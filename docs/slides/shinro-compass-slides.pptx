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463040"/>
            <a:ext cx="4937760" cy="493776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29446" y="-771754"/>
            <a:ext cx="3555187" cy="3555187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72600" y="-228600"/>
            <a:ext cx="2468880" cy="246888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457200" y="4480560"/>
            <a:ext cx="3474720" cy="347472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1" y="4967021"/>
            <a:ext cx="2501798" cy="2501798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5349240"/>
            <a:ext cx="1737360" cy="173736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10428" y="1188720"/>
            <a:ext cx="768096" cy="768096"/>
          </a:xfrm>
          <a:prstGeom prst="ellipse">
            <a:avLst/>
          </a:prstGeom>
          <a:solidFill>
            <a:srgbClr val="0B101C">
              <a:alpha val="0"/>
            </a:srgbClr>
          </a:solidFill>
          <a:ln w="25400">
            <a:solidFill>
              <a:srgbClr val="C9A8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0428" y="1188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0" y="224028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進路コンパス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0" y="3401568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会話で、都立高校の候補を見つけます。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0" y="4059936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塾に通っていないご家庭でも使えます。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0" y="56235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Team WINS</a:t>
            </a:r>
            <a:pPr algn="ctr" indent="0" marL="0">
              <a:buNone/>
            </a:pPr>
            <a:r>
              <a:rPr lang="en-US" sz="14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西 ・ 寒河江 ・ 安田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都知事杯オープンデータ・ハッカソン2026 サービス開発部門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どこから見ればいいか、分からない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都内では毎年およそ7.9万人が中学を卒業し、都立高校は189校あります。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94436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" name="Shape 3"/>
          <p:cNvSpPr/>
          <p:nvPr/>
        </p:nvSpPr>
        <p:spPr>
          <a:xfrm>
            <a:off x="318211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" name="Shape 4"/>
          <p:cNvSpPr/>
          <p:nvPr/>
        </p:nvSpPr>
        <p:spPr>
          <a:xfrm>
            <a:off x="341985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" name="Shape 6"/>
          <p:cNvSpPr/>
          <p:nvPr/>
        </p:nvSpPr>
        <p:spPr>
          <a:xfrm>
            <a:off x="389534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" name="Shape 7"/>
          <p:cNvSpPr/>
          <p:nvPr/>
        </p:nvSpPr>
        <p:spPr>
          <a:xfrm>
            <a:off x="413308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" name="Shape 8"/>
          <p:cNvSpPr/>
          <p:nvPr/>
        </p:nvSpPr>
        <p:spPr>
          <a:xfrm>
            <a:off x="437083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" name="Shape 9"/>
          <p:cNvSpPr/>
          <p:nvPr/>
        </p:nvSpPr>
        <p:spPr>
          <a:xfrm>
            <a:off x="460857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" name="Shape 10"/>
          <p:cNvSpPr/>
          <p:nvPr/>
        </p:nvSpPr>
        <p:spPr>
          <a:xfrm>
            <a:off x="484632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" name="Shape 11"/>
          <p:cNvSpPr/>
          <p:nvPr/>
        </p:nvSpPr>
        <p:spPr>
          <a:xfrm>
            <a:off x="508406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" name="Shape 12"/>
          <p:cNvSpPr/>
          <p:nvPr/>
        </p:nvSpPr>
        <p:spPr>
          <a:xfrm>
            <a:off x="532180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" name="Shape 13"/>
          <p:cNvSpPr/>
          <p:nvPr/>
        </p:nvSpPr>
        <p:spPr>
          <a:xfrm>
            <a:off x="555955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" name="Shape 14"/>
          <p:cNvSpPr/>
          <p:nvPr/>
        </p:nvSpPr>
        <p:spPr>
          <a:xfrm>
            <a:off x="579729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04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27278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" name="Shape 17"/>
          <p:cNvSpPr/>
          <p:nvPr/>
        </p:nvSpPr>
        <p:spPr>
          <a:xfrm>
            <a:off x="651052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0" name="Shape 18"/>
          <p:cNvSpPr/>
          <p:nvPr/>
        </p:nvSpPr>
        <p:spPr>
          <a:xfrm>
            <a:off x="674827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1" name="Shape 19"/>
          <p:cNvSpPr/>
          <p:nvPr/>
        </p:nvSpPr>
        <p:spPr>
          <a:xfrm>
            <a:off x="698601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2" name="Shape 20"/>
          <p:cNvSpPr/>
          <p:nvPr/>
        </p:nvSpPr>
        <p:spPr>
          <a:xfrm>
            <a:off x="722376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3" name="Shape 21"/>
          <p:cNvSpPr/>
          <p:nvPr/>
        </p:nvSpPr>
        <p:spPr>
          <a:xfrm>
            <a:off x="746150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4" name="Shape 22"/>
          <p:cNvSpPr/>
          <p:nvPr/>
        </p:nvSpPr>
        <p:spPr>
          <a:xfrm>
            <a:off x="769924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5" name="Shape 23"/>
          <p:cNvSpPr/>
          <p:nvPr/>
        </p:nvSpPr>
        <p:spPr>
          <a:xfrm>
            <a:off x="793699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6" name="Shape 24"/>
          <p:cNvSpPr/>
          <p:nvPr/>
        </p:nvSpPr>
        <p:spPr>
          <a:xfrm>
            <a:off x="817473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7" name="Shape 25"/>
          <p:cNvSpPr/>
          <p:nvPr/>
        </p:nvSpPr>
        <p:spPr>
          <a:xfrm>
            <a:off x="841248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8" name="Shape 26"/>
          <p:cNvSpPr/>
          <p:nvPr/>
        </p:nvSpPr>
        <p:spPr>
          <a:xfrm>
            <a:off x="865022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9" name="Shape 27"/>
          <p:cNvSpPr/>
          <p:nvPr/>
        </p:nvSpPr>
        <p:spPr>
          <a:xfrm>
            <a:off x="888796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0" name="Shape 28"/>
          <p:cNvSpPr/>
          <p:nvPr/>
        </p:nvSpPr>
        <p:spPr>
          <a:xfrm>
            <a:off x="912571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1" name="Shape 29"/>
          <p:cNvSpPr/>
          <p:nvPr/>
        </p:nvSpPr>
        <p:spPr>
          <a:xfrm>
            <a:off x="294436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18211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41985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5760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89534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3308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37083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60857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4632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8406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32180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55955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79729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4" name="Shape 42"/>
          <p:cNvSpPr/>
          <p:nvPr/>
        </p:nvSpPr>
        <p:spPr>
          <a:xfrm>
            <a:off x="603504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5" name="Shape 43"/>
          <p:cNvSpPr/>
          <p:nvPr/>
        </p:nvSpPr>
        <p:spPr>
          <a:xfrm>
            <a:off x="627278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6" name="Shape 44"/>
          <p:cNvSpPr/>
          <p:nvPr/>
        </p:nvSpPr>
        <p:spPr>
          <a:xfrm>
            <a:off x="651052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7" name="Shape 45"/>
          <p:cNvSpPr/>
          <p:nvPr/>
        </p:nvSpPr>
        <p:spPr>
          <a:xfrm>
            <a:off x="674827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8" name="Shape 46"/>
          <p:cNvSpPr/>
          <p:nvPr/>
        </p:nvSpPr>
        <p:spPr>
          <a:xfrm>
            <a:off x="698601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22376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0" name="Shape 48"/>
          <p:cNvSpPr/>
          <p:nvPr/>
        </p:nvSpPr>
        <p:spPr>
          <a:xfrm>
            <a:off x="746150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1" name="Shape 49"/>
          <p:cNvSpPr/>
          <p:nvPr/>
        </p:nvSpPr>
        <p:spPr>
          <a:xfrm>
            <a:off x="769924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2" name="Shape 50"/>
          <p:cNvSpPr/>
          <p:nvPr/>
        </p:nvSpPr>
        <p:spPr>
          <a:xfrm>
            <a:off x="793699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3" name="Shape 51"/>
          <p:cNvSpPr/>
          <p:nvPr/>
        </p:nvSpPr>
        <p:spPr>
          <a:xfrm>
            <a:off x="817473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4" name="Shape 52"/>
          <p:cNvSpPr/>
          <p:nvPr/>
        </p:nvSpPr>
        <p:spPr>
          <a:xfrm>
            <a:off x="841248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5" name="Shape 53"/>
          <p:cNvSpPr/>
          <p:nvPr/>
        </p:nvSpPr>
        <p:spPr>
          <a:xfrm>
            <a:off x="865022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6" name="Shape 54"/>
          <p:cNvSpPr/>
          <p:nvPr/>
        </p:nvSpPr>
        <p:spPr>
          <a:xfrm>
            <a:off x="888796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7" name="Shape 55"/>
          <p:cNvSpPr/>
          <p:nvPr/>
        </p:nvSpPr>
        <p:spPr>
          <a:xfrm>
            <a:off x="912571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8" name="Shape 56"/>
          <p:cNvSpPr/>
          <p:nvPr/>
        </p:nvSpPr>
        <p:spPr>
          <a:xfrm>
            <a:off x="294436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18211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41985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5760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89534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3" name="Shape 61"/>
          <p:cNvSpPr/>
          <p:nvPr/>
        </p:nvSpPr>
        <p:spPr>
          <a:xfrm>
            <a:off x="413308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4" name="Shape 62"/>
          <p:cNvSpPr/>
          <p:nvPr/>
        </p:nvSpPr>
        <p:spPr>
          <a:xfrm>
            <a:off x="437083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5" name="Shape 63"/>
          <p:cNvSpPr/>
          <p:nvPr/>
        </p:nvSpPr>
        <p:spPr>
          <a:xfrm>
            <a:off x="460857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84632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08406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32180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5955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9729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03504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27278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052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74827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8601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22376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46150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69924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93699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0" name="Shape 78"/>
          <p:cNvSpPr/>
          <p:nvPr/>
        </p:nvSpPr>
        <p:spPr>
          <a:xfrm>
            <a:off x="817473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1" name="Shape 79"/>
          <p:cNvSpPr/>
          <p:nvPr/>
        </p:nvSpPr>
        <p:spPr>
          <a:xfrm>
            <a:off x="841248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2" name="Shape 80"/>
          <p:cNvSpPr/>
          <p:nvPr/>
        </p:nvSpPr>
        <p:spPr>
          <a:xfrm>
            <a:off x="865022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3" name="Shape 81"/>
          <p:cNvSpPr/>
          <p:nvPr/>
        </p:nvSpPr>
        <p:spPr>
          <a:xfrm>
            <a:off x="888796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4" name="Shape 82"/>
          <p:cNvSpPr/>
          <p:nvPr/>
        </p:nvSpPr>
        <p:spPr>
          <a:xfrm>
            <a:off x="912571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5" name="Shape 83"/>
          <p:cNvSpPr/>
          <p:nvPr/>
        </p:nvSpPr>
        <p:spPr>
          <a:xfrm>
            <a:off x="294436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18211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419856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57600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895344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0" name="Shape 88"/>
          <p:cNvSpPr/>
          <p:nvPr/>
        </p:nvSpPr>
        <p:spPr>
          <a:xfrm>
            <a:off x="413308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1" name="Shape 89"/>
          <p:cNvSpPr/>
          <p:nvPr/>
        </p:nvSpPr>
        <p:spPr>
          <a:xfrm>
            <a:off x="437083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2" name="Shape 90"/>
          <p:cNvSpPr/>
          <p:nvPr/>
        </p:nvSpPr>
        <p:spPr>
          <a:xfrm>
            <a:off x="4608576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3" name="Shape 91"/>
          <p:cNvSpPr/>
          <p:nvPr/>
        </p:nvSpPr>
        <p:spPr>
          <a:xfrm>
            <a:off x="4846320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4" name="Shape 92"/>
          <p:cNvSpPr/>
          <p:nvPr/>
        </p:nvSpPr>
        <p:spPr>
          <a:xfrm>
            <a:off x="5084064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5" name="Shape 93"/>
          <p:cNvSpPr/>
          <p:nvPr/>
        </p:nvSpPr>
        <p:spPr>
          <a:xfrm>
            <a:off x="532180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6" name="Shape 94"/>
          <p:cNvSpPr/>
          <p:nvPr/>
        </p:nvSpPr>
        <p:spPr>
          <a:xfrm>
            <a:off x="555955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7" name="Shape 95"/>
          <p:cNvSpPr/>
          <p:nvPr/>
        </p:nvSpPr>
        <p:spPr>
          <a:xfrm>
            <a:off x="5769864" y="3017520"/>
            <a:ext cx="173736" cy="173736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98" name="Shape 96"/>
          <p:cNvSpPr/>
          <p:nvPr/>
        </p:nvSpPr>
        <p:spPr>
          <a:xfrm>
            <a:off x="6007608" y="3017520"/>
            <a:ext cx="173736" cy="173736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99" name="Shape 97"/>
          <p:cNvSpPr/>
          <p:nvPr/>
        </p:nvSpPr>
        <p:spPr>
          <a:xfrm>
            <a:off x="6245352" y="3017520"/>
            <a:ext cx="173736" cy="173736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00" name="Shape 98"/>
          <p:cNvSpPr/>
          <p:nvPr/>
        </p:nvSpPr>
        <p:spPr>
          <a:xfrm>
            <a:off x="6483096" y="3017520"/>
            <a:ext cx="173736" cy="173736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01" name="Shape 99"/>
          <p:cNvSpPr/>
          <p:nvPr/>
        </p:nvSpPr>
        <p:spPr>
          <a:xfrm>
            <a:off x="674827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986016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223760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461504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69924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93699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174736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412480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650224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88796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12571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94436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18211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41985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5760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89534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13308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37083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60857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84632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08406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180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55955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79729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03504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7278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1052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74827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98601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22376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46150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69924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93699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817473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841248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865022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888796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2571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4436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18211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41985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65760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9534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13308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5" name="Shape 143"/>
          <p:cNvSpPr/>
          <p:nvPr/>
        </p:nvSpPr>
        <p:spPr>
          <a:xfrm>
            <a:off x="437083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60857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84632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08406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32180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5955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79729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03504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27278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51052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74827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98601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22376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46150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69924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93699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1" name="Shape 159"/>
          <p:cNvSpPr/>
          <p:nvPr/>
        </p:nvSpPr>
        <p:spPr>
          <a:xfrm>
            <a:off x="817473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2" name="Shape 160"/>
          <p:cNvSpPr/>
          <p:nvPr/>
        </p:nvSpPr>
        <p:spPr>
          <a:xfrm>
            <a:off x="841248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3" name="Shape 161"/>
          <p:cNvSpPr/>
          <p:nvPr/>
        </p:nvSpPr>
        <p:spPr>
          <a:xfrm>
            <a:off x="865022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4" name="Shape 162"/>
          <p:cNvSpPr/>
          <p:nvPr/>
        </p:nvSpPr>
        <p:spPr>
          <a:xfrm>
            <a:off x="888796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5" name="Shape 163"/>
          <p:cNvSpPr/>
          <p:nvPr/>
        </p:nvSpPr>
        <p:spPr>
          <a:xfrm>
            <a:off x="912571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6" name="Shape 164"/>
          <p:cNvSpPr/>
          <p:nvPr/>
        </p:nvSpPr>
        <p:spPr>
          <a:xfrm>
            <a:off x="294436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7" name="Shape 165"/>
          <p:cNvSpPr/>
          <p:nvPr/>
        </p:nvSpPr>
        <p:spPr>
          <a:xfrm>
            <a:off x="318211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8" name="Shape 166"/>
          <p:cNvSpPr/>
          <p:nvPr/>
        </p:nvSpPr>
        <p:spPr>
          <a:xfrm>
            <a:off x="341985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65760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0" name="Shape 168"/>
          <p:cNvSpPr/>
          <p:nvPr/>
        </p:nvSpPr>
        <p:spPr>
          <a:xfrm>
            <a:off x="389534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1" name="Shape 169"/>
          <p:cNvSpPr/>
          <p:nvPr/>
        </p:nvSpPr>
        <p:spPr>
          <a:xfrm>
            <a:off x="413308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2" name="Shape 170"/>
          <p:cNvSpPr/>
          <p:nvPr/>
        </p:nvSpPr>
        <p:spPr>
          <a:xfrm>
            <a:off x="437083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3" name="Shape 171"/>
          <p:cNvSpPr/>
          <p:nvPr/>
        </p:nvSpPr>
        <p:spPr>
          <a:xfrm>
            <a:off x="460857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4" name="Shape 172"/>
          <p:cNvSpPr/>
          <p:nvPr/>
        </p:nvSpPr>
        <p:spPr>
          <a:xfrm>
            <a:off x="484632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08406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32180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55955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79729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03504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7278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51052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74827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8601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22376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46150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69924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93699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8" name="Shape 186"/>
          <p:cNvSpPr/>
          <p:nvPr/>
        </p:nvSpPr>
        <p:spPr>
          <a:xfrm>
            <a:off x="817473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9" name="Shape 187"/>
          <p:cNvSpPr/>
          <p:nvPr/>
        </p:nvSpPr>
        <p:spPr>
          <a:xfrm>
            <a:off x="841248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0" name="Shape 188"/>
          <p:cNvSpPr/>
          <p:nvPr/>
        </p:nvSpPr>
        <p:spPr>
          <a:xfrm>
            <a:off x="865022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1" name="Shape 189"/>
          <p:cNvSpPr/>
          <p:nvPr/>
        </p:nvSpPr>
        <p:spPr>
          <a:xfrm>
            <a:off x="888796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2" name="Shape 190"/>
          <p:cNvSpPr/>
          <p:nvPr/>
        </p:nvSpPr>
        <p:spPr>
          <a:xfrm>
            <a:off x="912571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715000" y="2962656"/>
            <a:ext cx="996696" cy="283464"/>
          </a:xfrm>
          <a:prstGeom prst="roundRect">
            <a:avLst>
              <a:gd name="adj" fmla="val 19355"/>
            </a:avLst>
          </a:prstGeom>
          <a:ln w="22860">
            <a:solidFill>
              <a:srgbClr val="A87F2F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213348" y="1975104"/>
            <a:ext cx="0" cy="987552"/>
          </a:xfrm>
          <a:prstGeom prst="line">
            <a:avLst/>
          </a:prstGeom>
          <a:noFill/>
          <a:ln w="15240">
            <a:solidFill>
              <a:srgbClr val="A87F2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3287268" y="16824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塾に通うご家庭は、先生が「まずこの数校から」と絞ってくれます</a:t>
            </a:r>
            <a:endParaRPr lang="en-US" sz="1400" dirty="0"/>
          </a:p>
        </p:txBody>
      </p:sp>
      <p:sp>
        <p:nvSpPr>
          <p:cNvPr id="196" name="Text 194"/>
          <p:cNvSpPr/>
          <p:nvPr/>
        </p:nvSpPr>
        <p:spPr>
          <a:xfrm>
            <a:off x="8001000" y="13167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＝ 都立高校 1校</a:t>
            </a:r>
            <a:endParaRPr lang="en-US" sz="1150" dirty="0"/>
          </a:p>
        </p:txBody>
      </p:sp>
      <p:sp>
        <p:nvSpPr>
          <p:cNvPr id="197" name="Text 195"/>
          <p:cNvSpPr/>
          <p:nvPr/>
        </p:nvSpPr>
        <p:spPr>
          <a:xfrm>
            <a:off x="640080" y="641908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卒業者数は東京都教育委員会「中学校卒業者の進路状況」令和7年度速報（78,627人）</a:t>
            </a:r>
            <a:endParaRPr lang="en-US" sz="950" dirty="0"/>
          </a:p>
        </p:txBody>
      </p:sp>
      <p:sp>
        <p:nvSpPr>
          <p:cNvPr id="198" name="Text 196"/>
          <p:cNvSpPr/>
          <p:nvPr/>
        </p:nvSpPr>
        <p:spPr>
          <a:xfrm>
            <a:off x="640080" y="4572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塾に通っていないご家庭は、この189校から自分で絞ることになります。</a:t>
            </a:r>
            <a:endParaRPr lang="en-US" sz="1800" dirty="0"/>
          </a:p>
        </p:txBody>
      </p:sp>
      <p:sp>
        <p:nvSpPr>
          <p:cNvPr id="199" name="Text 197"/>
          <p:cNvSpPr/>
          <p:nvPr/>
        </p:nvSpPr>
        <p:spPr>
          <a:xfrm>
            <a:off x="640080" y="5138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「うちの子は、どこから見ればいいのか」</a:t>
            </a:r>
            <a:endParaRPr lang="en-US" sz="2300" dirty="0"/>
          </a:p>
        </p:txBody>
      </p:sp>
      <p:sp>
        <p:nvSpPr>
          <p:cNvPr id="200" name="Text 198"/>
          <p:cNvSpPr/>
          <p:nvPr/>
        </p:nvSpPr>
        <p:spPr>
          <a:xfrm>
            <a:off x="640080" y="58064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352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進路コンパスは、この最初の数校をお出しします。</a:t>
            </a:r>
            <a:endParaRPr lang="en-US" sz="2100" dirty="0"/>
          </a:p>
        </p:txBody>
      </p:sp>
      <p:sp>
        <p:nvSpPr>
          <p:cNvPr id="201" name="Text 199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3つの質問に答えると、候補が出ます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n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2457450" cy="502920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4297680" y="178308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5" name="Text 2"/>
          <p:cNvSpPr/>
          <p:nvPr/>
        </p:nvSpPr>
        <p:spPr>
          <a:xfrm>
            <a:off x="429768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74920" y="174650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最寄り駅と、通える時間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074920" y="220370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住所は聞きません。最寄り駅と、通える時間だけをうかがいます。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297680" y="320040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9" name="Text 6"/>
          <p:cNvSpPr/>
          <p:nvPr/>
        </p:nvSpPr>
        <p:spPr>
          <a:xfrm>
            <a:off x="4297680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074920" y="316382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成績の目安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5074920" y="362102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内申と当日点の見込みをうかがい、1020点満点に換算します。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まだ分からない場合は飛ばせます。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297680" y="461772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13" name="Text 10"/>
          <p:cNvSpPr/>
          <p:nvPr/>
        </p:nvSpPr>
        <p:spPr>
          <a:xfrm>
            <a:off x="4297680" y="4617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074920" y="458114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希望と、重視したいこと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5074920" y="503834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「吹奏楽をやりたい」「制服がない学校がいい」など、自由に入力できます。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最後に、並べ方の基準を1つ選びます。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余裕・ちょうど・あと一歩を混ぜて出します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お子さんの見込み点を基準に、3つに分けています。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1790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実際に提案された4校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613002" y="2084832"/>
            <a:ext cx="0" cy="219456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30706" y="2304288"/>
            <a:ext cx="164592" cy="164592"/>
          </a:xfrm>
          <a:prstGeom prst="ellipse">
            <a:avLst/>
          </a:prstGeom>
          <a:solidFill>
            <a:srgbClr val="2E7D32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4362" y="1847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21178" y="2084832"/>
            <a:ext cx="0" cy="54864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21178" y="2139696"/>
            <a:ext cx="384048" cy="0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05226" y="2139696"/>
            <a:ext cx="0" cy="164592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22930" y="2304288"/>
            <a:ext cx="164592" cy="164592"/>
          </a:xfrm>
          <a:prstGeom prst="ellipse">
            <a:avLst/>
          </a:prstGeom>
          <a:solidFill>
            <a:srgbClr val="0D47A1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72538" y="1847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北園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908755" y="2084832"/>
            <a:ext cx="0" cy="146304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707" y="2231136"/>
            <a:ext cx="384048" cy="0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707" y="2231136"/>
            <a:ext cx="0" cy="73152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42411" y="2304288"/>
            <a:ext cx="164592" cy="164592"/>
          </a:xfrm>
          <a:prstGeom prst="ellipse">
            <a:avLst/>
          </a:prstGeom>
          <a:solidFill>
            <a:srgbClr val="0D47A1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60115" y="1847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竹早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368138" y="2084832"/>
            <a:ext cx="0" cy="219456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85842" y="2304288"/>
            <a:ext cx="164592" cy="164592"/>
          </a:xfrm>
          <a:prstGeom prst="ellipse">
            <a:avLst/>
          </a:prstGeom>
          <a:solidFill>
            <a:srgbClr val="C4500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19498" y="1847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2560320"/>
            <a:ext cx="1536192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25603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余裕
</a:t>
            </a:r>
            <a:pPr algn="ctr"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余裕をもって臨める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176272" y="2560320"/>
            <a:ext cx="2048256" cy="566928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24" name="Text 22"/>
          <p:cNvSpPr/>
          <p:nvPr/>
        </p:nvSpPr>
        <p:spPr>
          <a:xfrm>
            <a:off x="2176272" y="2560320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ちょうど
</a:t>
            </a:r>
            <a:pPr algn="ctr"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いまの見込みで届く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224528" y="2560320"/>
            <a:ext cx="1536192" cy="566928"/>
          </a:xfrm>
          <a:prstGeom prst="rect">
            <a:avLst/>
          </a:prstGeom>
          <a:solidFill>
            <a:srgbClr val="C45000"/>
          </a:solidFill>
          <a:ln/>
        </p:spPr>
      </p:sp>
      <p:sp>
        <p:nvSpPr>
          <p:cNvPr id="26" name="Text 24"/>
          <p:cNvSpPr/>
          <p:nvPr/>
        </p:nvSpPr>
        <p:spPr>
          <a:xfrm>
            <a:off x="4224528" y="25603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あと一歩
</a:t>
            </a:r>
            <a:pPr algn="ctr"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いまは少し足りない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200400" y="2432304"/>
            <a:ext cx="0" cy="822960"/>
          </a:xfrm>
          <a:prstGeom prst="line">
            <a:avLst/>
          </a:prstGeom>
          <a:noFill/>
          <a:ln w="25400">
            <a:solidFill>
              <a:srgbClr val="A87F2F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2176272" y="3127248"/>
            <a:ext cx="0" cy="82296"/>
          </a:xfrm>
          <a:prstGeom prst="line">
            <a:avLst/>
          </a:prstGeom>
          <a:noFill/>
          <a:ln w="12700">
            <a:solidFill>
              <a:srgbClr val="5C6B8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719072" y="321868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−60点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24528" y="3127248"/>
            <a:ext cx="0" cy="82296"/>
          </a:xfrm>
          <a:prstGeom prst="line">
            <a:avLst/>
          </a:prstGeom>
          <a:noFill/>
          <a:ln w="12700">
            <a:solidFill>
              <a:srgbClr val="5C6B8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67328" y="321868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+60点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377440" y="34564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見込み 793点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376732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← 合格の目安が低い　　　　　　　　　　　高い →</a:t>
            </a:r>
            <a:endParaRPr lang="en-US" sz="1050" dirty="0"/>
          </a:p>
        </p:txBody>
      </p:sp>
      <p:pic>
        <p:nvPicPr>
          <p:cNvPr id="34" name="Image 0" descr="/tmp/claude-0/-home-user-knowledge-base/ce7faca9-342a-5cd4-886e-c73f2ae459cd/scratchpad/deck/d_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417320"/>
            <a:ext cx="5618480" cy="361188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pic>
        <p:nvPicPr>
          <p:cNvPr id="35" name="Image 1" descr="/tmp/claude-0/-home-user-knowledge-base/ce7faca9-342a-5cd4-886e-c73f2ae459cd/scratchpad/deck/n_car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88920"/>
            <a:ext cx="1139363" cy="23317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36" name="Text 32"/>
          <p:cNvSpPr/>
          <p:nvPr/>
        </p:nvSpPr>
        <p:spPr>
          <a:xfrm>
            <a:off x="640080" y="4251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1校には絞りません</a:t>
            </a:r>
            <a:endParaRPr lang="en-US" sz="1700" dirty="0"/>
          </a:p>
        </p:txBody>
      </p:sp>
      <p:sp>
        <p:nvSpPr>
          <p:cNvPr id="37" name="Text 33"/>
          <p:cNvSpPr/>
          <p:nvPr/>
        </p:nvSpPr>
        <p:spPr>
          <a:xfrm>
            <a:off x="640080" y="463600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順位はつけずに数校を並べます。どの学校が合うかは、ご家庭で判断していただくためです。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40080" y="5394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高専・定時制も候補に残します</a:t>
            </a:r>
            <a:endParaRPr lang="en-US" sz="1700" dirty="0"/>
          </a:p>
        </p:txBody>
      </p:sp>
      <p:sp>
        <p:nvSpPr>
          <p:cNvPr id="39" name="Text 35"/>
          <p:cNvSpPr/>
          <p:nvPr/>
        </p:nvSpPr>
        <p:spPr>
          <a:xfrm>
            <a:off x="640080" y="577900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入試の方式が違うため判定はせず、「測り方が違う」と書いて出します。</a:t>
            </a:r>
            <a:endParaRPr lang="en-US" sz="1350" dirty="0"/>
          </a:p>
        </p:txBody>
      </p:sp>
      <p:sp>
        <p:nvSpPr>
          <p:cNvPr id="40" name="Text 36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気になった学校を1枚にまとめて印刷できます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d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5049520" cy="32461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pic>
        <p:nvPicPr>
          <p:cNvPr id="4" name="Image 1" descr="/tmp/claude-0/-home-user-knowledge-base/ce7faca9-342a-5cd4-886e-c73f2ae459cd/scratchpad/deck/n_shee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892040"/>
            <a:ext cx="1661976" cy="14173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5" name="Text 1"/>
          <p:cNvSpPr/>
          <p:nvPr/>
        </p:nvSpPr>
        <p:spPr>
          <a:xfrm>
            <a:off x="2331720" y="52578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スマートフォンでも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同じものが見られます。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5532120" y="189280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7" name="Text 3"/>
          <p:cNvSpPr/>
          <p:nvPr/>
        </p:nvSpPr>
        <p:spPr>
          <a:xfrm>
            <a:off x="5852160" y="174650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部の実績・制服・倍率の5年推移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5852160" y="218541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公式記録から集めた部の実績、制服、倍率の推移を同じ紙に載せています。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532120" y="326440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0" name="Text 6"/>
          <p:cNvSpPr/>
          <p:nvPr/>
        </p:nvSpPr>
        <p:spPr>
          <a:xfrm>
            <a:off x="5852160" y="311810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最寄り駅からの位置関係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852160" y="355701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気になる学校を同じ縮尺の地図に並べます。最寄り駅からどの方角に、どれだけ離れているかが分かります。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532120" y="463600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3" name="Text 9"/>
          <p:cNvSpPr/>
          <p:nvPr/>
        </p:nvSpPr>
        <p:spPr>
          <a:xfrm>
            <a:off x="5852160" y="448970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A4で印刷できます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852160" y="492861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学校説明会や見学に持っていき、ご家族で見ながら話せます。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9つの公開データを組み合わせています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学校一覧・学科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38912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028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応募倍率 R4〜R8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9028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3932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中学校卒業者の進路状況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3932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進学指導重点校等の指定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4124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028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部活 約5,000件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9028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3816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制服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33932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運動部の実績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4124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東京都高体連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8912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028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硬式野球・吹奏楽・美術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9028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都高野連・都吹連・国際美術展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3816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3932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通学時間 10.5万通り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3932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station_database（CC BY-SA 4.0）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40080" y="422452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地図タイルは OpenStreetMap（ODbL）を使っています。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40080" y="455371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PDF・HTML・表など形式の違うデータを、1つの画面にまとめています。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0080" y="4992624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すべての表示に出典を付けています。学校の公式サイトや都の資料に、そのまま進めます。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40080" y="5440680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A87F2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55412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出典を確認できたデータだけを使っています。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914400" y="592531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大会実績は部の実績として扱っています。生徒の氏名・学年・記録は、収集の時点で読み取っていません。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チーム・システム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342900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1819656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96112" y="22585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企画・データ整備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96112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塾で保護者と面談している立場から、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必要な情報と伝え方を決めています。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89120" y="1600200"/>
            <a:ext cx="342900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1819656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寒河江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645152" y="22585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推薦ロジック・API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645152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区分の判定と並べ方、Cloudflare上の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検索APIを担当しています。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38160" y="1600200"/>
            <a:ext cx="342900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94192" y="1819656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安田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394192" y="22585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UI・画面設計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394192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保護者が迷わない画面と、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印刷して使えるシートを設計しています。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0080" y="45537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920240" y="4480560"/>
            <a:ext cx="26060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20240" y="4480560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検索は Cloudflare Workers + D1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27448" y="4480560"/>
            <a:ext cx="2295144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27448" y="4480560"/>
            <a:ext cx="2295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配布用デモは単一HTMLで完結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23760" y="4480560"/>
            <a:ext cx="252831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0" y="4480560"/>
            <a:ext cx="25283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通学時間 10.5万通りを事前計算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953244" y="4480560"/>
            <a:ext cx="1595628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53244" y="4480560"/>
            <a:ext cx="15956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自動テスト 51項目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46811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年に一度の入試情報の更新を、少人数のまま回せる形にしてあります。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070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いまは都立高校の189校だけを扱っています。ここから増やしていきます。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29000" cy="2880360"/>
          </a:xfrm>
          <a:prstGeom prst="roundRect">
            <a:avLst>
              <a:gd name="adj" fmla="val 3810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965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扱う学校を増やす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96112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私立高校を候補に加える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96112" y="2743200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都立と私立は併願で決めるものなので、都立だけでは選び終わりません。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96112" y="35021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中高一貫校・高専の拡充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96112" y="3794760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入試の方式が違う学校も、測り方の違いを書いたうえで並べます。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0" y="1783080"/>
            <a:ext cx="3429000" cy="2880360"/>
          </a:xfrm>
          <a:prstGeom prst="roundRect">
            <a:avLst>
              <a:gd name="adj" fmla="val 3810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1965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学校を知る手がかりを増やす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5152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校風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45152" y="2743200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各校公式サイトの教育目標やスクールポリシーから拾います。判定には使わず、知る手がかりとして出します。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45152" y="35021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進学・進路の実績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45152" y="3794760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卒業後の進路を、公表されている範囲で並べます。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38160" y="1783080"/>
            <a:ext cx="3429000" cy="2880360"/>
          </a:xfrm>
          <a:prstGeom prst="roundRect">
            <a:avLst>
              <a:gd name="adj" fmla="val 3810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1965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使える人を増やす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94192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やさしい日本語と多言語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394192" y="2743200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日本語で情報を集めるのが難しいご家庭にも届くようにします。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394192" y="35021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学校説明会・見学の情報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394192" y="3794760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候補が決まったあと、次に何をすればいいかまで案内します。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89204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141B2A"/>
          </a:solidFill>
          <a:ln w="15240">
            <a:solidFill>
              <a:srgbClr val="A87F2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89204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増やさないもの　</a:t>
            </a:r>
            <a:pPr indent="0" marL="0">
              <a:buNone/>
            </a:pPr>
            <a:r>
              <a:rPr lang="en-US" sz="13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口コミは載せません。出典を出せないデータは、表示にも判定にも使いません。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保護者から利用料はいただきません。無料のまま続けられる形を、収益の側で用意しています。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610819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塾に通っていないご家庭が、学校選びを始められる場所にしたいと考えています。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進路コンパス</dc:title>
  <dc:subject>PptxGenJS Presentation</dc:subject>
  <dc:creator>Team WINS</dc:creator>
  <cp:lastModifiedBy>Team WINS</cp:lastModifiedBy>
  <cp:revision>1</cp:revision>
  <dcterms:created xsi:type="dcterms:W3CDTF">2026-08-23T06:25:09Z</dcterms:created>
  <dcterms:modified xsi:type="dcterms:W3CDTF">2026-08-23T06:25:09Z</dcterms:modified>
</cp:coreProperties>
</file>