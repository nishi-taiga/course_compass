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会話で、都立高校の候補を見つけます。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塾に通っていないご家庭でも使えます。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都立高校は189校あります。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9443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" name="Shape 3"/>
          <p:cNvSpPr/>
          <p:nvPr/>
        </p:nvSpPr>
        <p:spPr>
          <a:xfrm>
            <a:off x="31821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" name="Shape 4"/>
          <p:cNvSpPr/>
          <p:nvPr/>
        </p:nvSpPr>
        <p:spPr>
          <a:xfrm>
            <a:off x="341985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" name="Shape 6"/>
          <p:cNvSpPr/>
          <p:nvPr/>
        </p:nvSpPr>
        <p:spPr>
          <a:xfrm>
            <a:off x="389534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" name="Shape 7"/>
          <p:cNvSpPr/>
          <p:nvPr/>
        </p:nvSpPr>
        <p:spPr>
          <a:xfrm>
            <a:off x="413308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" name="Shape 8"/>
          <p:cNvSpPr/>
          <p:nvPr/>
        </p:nvSpPr>
        <p:spPr>
          <a:xfrm>
            <a:off x="437083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" name="Shape 9"/>
          <p:cNvSpPr/>
          <p:nvPr/>
        </p:nvSpPr>
        <p:spPr>
          <a:xfrm>
            <a:off x="460857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8406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" name="Shape 12"/>
          <p:cNvSpPr/>
          <p:nvPr/>
        </p:nvSpPr>
        <p:spPr>
          <a:xfrm>
            <a:off x="532180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" name="Shape 13"/>
          <p:cNvSpPr/>
          <p:nvPr/>
        </p:nvSpPr>
        <p:spPr>
          <a:xfrm>
            <a:off x="555955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" name="Shape 14"/>
          <p:cNvSpPr/>
          <p:nvPr/>
        </p:nvSpPr>
        <p:spPr>
          <a:xfrm>
            <a:off x="579729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27278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" name="Shape 17"/>
          <p:cNvSpPr/>
          <p:nvPr/>
        </p:nvSpPr>
        <p:spPr>
          <a:xfrm>
            <a:off x="651052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0" name="Shape 18"/>
          <p:cNvSpPr/>
          <p:nvPr/>
        </p:nvSpPr>
        <p:spPr>
          <a:xfrm>
            <a:off x="674827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8601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2" name="Shape 20"/>
          <p:cNvSpPr/>
          <p:nvPr/>
        </p:nvSpPr>
        <p:spPr>
          <a:xfrm>
            <a:off x="722376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6150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69924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5" name="Shape 23"/>
          <p:cNvSpPr/>
          <p:nvPr/>
        </p:nvSpPr>
        <p:spPr>
          <a:xfrm>
            <a:off x="793699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6" name="Shape 24"/>
          <p:cNvSpPr/>
          <p:nvPr/>
        </p:nvSpPr>
        <p:spPr>
          <a:xfrm>
            <a:off x="817473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7" name="Shape 25"/>
          <p:cNvSpPr/>
          <p:nvPr/>
        </p:nvSpPr>
        <p:spPr>
          <a:xfrm>
            <a:off x="841248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8" name="Shape 26"/>
          <p:cNvSpPr/>
          <p:nvPr/>
        </p:nvSpPr>
        <p:spPr>
          <a:xfrm>
            <a:off x="865022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9" name="Shape 27"/>
          <p:cNvSpPr/>
          <p:nvPr/>
        </p:nvSpPr>
        <p:spPr>
          <a:xfrm>
            <a:off x="88879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0" name="Shape 28"/>
          <p:cNvSpPr/>
          <p:nvPr/>
        </p:nvSpPr>
        <p:spPr>
          <a:xfrm>
            <a:off x="91257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1" name="Shape 29"/>
          <p:cNvSpPr/>
          <p:nvPr/>
        </p:nvSpPr>
        <p:spPr>
          <a:xfrm>
            <a:off x="29443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21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41985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5760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534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3308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083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60857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32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8406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32180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55955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79729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4" name="Shape 42"/>
          <p:cNvSpPr/>
          <p:nvPr/>
        </p:nvSpPr>
        <p:spPr>
          <a:xfrm>
            <a:off x="603504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278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51052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7" name="Shape 45"/>
          <p:cNvSpPr/>
          <p:nvPr/>
        </p:nvSpPr>
        <p:spPr>
          <a:xfrm>
            <a:off x="674827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8" name="Shape 46"/>
          <p:cNvSpPr/>
          <p:nvPr/>
        </p:nvSpPr>
        <p:spPr>
          <a:xfrm>
            <a:off x="698601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22376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0" name="Shape 48"/>
          <p:cNvSpPr/>
          <p:nvPr/>
        </p:nvSpPr>
        <p:spPr>
          <a:xfrm>
            <a:off x="746150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1" name="Shape 49"/>
          <p:cNvSpPr/>
          <p:nvPr/>
        </p:nvSpPr>
        <p:spPr>
          <a:xfrm>
            <a:off x="769924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2" name="Shape 50"/>
          <p:cNvSpPr/>
          <p:nvPr/>
        </p:nvSpPr>
        <p:spPr>
          <a:xfrm>
            <a:off x="793699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17473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4" name="Shape 52"/>
          <p:cNvSpPr/>
          <p:nvPr/>
        </p:nvSpPr>
        <p:spPr>
          <a:xfrm>
            <a:off x="841248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5" name="Shape 53"/>
          <p:cNvSpPr/>
          <p:nvPr/>
        </p:nvSpPr>
        <p:spPr>
          <a:xfrm>
            <a:off x="865022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6" name="Shape 54"/>
          <p:cNvSpPr/>
          <p:nvPr/>
        </p:nvSpPr>
        <p:spPr>
          <a:xfrm>
            <a:off x="88879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7" name="Shape 55"/>
          <p:cNvSpPr/>
          <p:nvPr/>
        </p:nvSpPr>
        <p:spPr>
          <a:xfrm>
            <a:off x="91257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8" name="Shape 56"/>
          <p:cNvSpPr/>
          <p:nvPr/>
        </p:nvSpPr>
        <p:spPr>
          <a:xfrm>
            <a:off x="29443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1821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41985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89534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3" name="Shape 61"/>
          <p:cNvSpPr/>
          <p:nvPr/>
        </p:nvSpPr>
        <p:spPr>
          <a:xfrm>
            <a:off x="413308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7083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0857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84632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08406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32180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5955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9729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03504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27278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052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74827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8601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22376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46150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69924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93699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0" name="Shape 78"/>
          <p:cNvSpPr/>
          <p:nvPr/>
        </p:nvSpPr>
        <p:spPr>
          <a:xfrm>
            <a:off x="817473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1" name="Shape 79"/>
          <p:cNvSpPr/>
          <p:nvPr/>
        </p:nvSpPr>
        <p:spPr>
          <a:xfrm>
            <a:off x="841248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2" name="Shape 80"/>
          <p:cNvSpPr/>
          <p:nvPr/>
        </p:nvSpPr>
        <p:spPr>
          <a:xfrm>
            <a:off x="865022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8879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4" name="Shape 82"/>
          <p:cNvSpPr/>
          <p:nvPr/>
        </p:nvSpPr>
        <p:spPr>
          <a:xfrm>
            <a:off x="91257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5" name="Shape 83"/>
          <p:cNvSpPr/>
          <p:nvPr/>
        </p:nvSpPr>
        <p:spPr>
          <a:xfrm>
            <a:off x="29443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1821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41985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5760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89534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0" name="Shape 88"/>
          <p:cNvSpPr/>
          <p:nvPr/>
        </p:nvSpPr>
        <p:spPr>
          <a:xfrm>
            <a:off x="413308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1" name="Shape 89"/>
          <p:cNvSpPr/>
          <p:nvPr/>
        </p:nvSpPr>
        <p:spPr>
          <a:xfrm>
            <a:off x="437083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2" name="Shape 90"/>
          <p:cNvSpPr/>
          <p:nvPr/>
        </p:nvSpPr>
        <p:spPr>
          <a:xfrm>
            <a:off x="460857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3" name="Shape 91"/>
          <p:cNvSpPr/>
          <p:nvPr/>
        </p:nvSpPr>
        <p:spPr>
          <a:xfrm>
            <a:off x="484632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4" name="Shape 92"/>
          <p:cNvSpPr/>
          <p:nvPr/>
        </p:nvSpPr>
        <p:spPr>
          <a:xfrm>
            <a:off x="508406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5" name="Shape 93"/>
          <p:cNvSpPr/>
          <p:nvPr/>
        </p:nvSpPr>
        <p:spPr>
          <a:xfrm>
            <a:off x="532180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6" name="Shape 94"/>
          <p:cNvSpPr/>
          <p:nvPr/>
        </p:nvSpPr>
        <p:spPr>
          <a:xfrm>
            <a:off x="555955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7" name="Shape 95"/>
          <p:cNvSpPr/>
          <p:nvPr/>
        </p:nvSpPr>
        <p:spPr>
          <a:xfrm>
            <a:off x="5769864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8" name="Shape 96"/>
          <p:cNvSpPr/>
          <p:nvPr/>
        </p:nvSpPr>
        <p:spPr>
          <a:xfrm>
            <a:off x="6007608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9" name="Shape 97"/>
          <p:cNvSpPr/>
          <p:nvPr/>
        </p:nvSpPr>
        <p:spPr>
          <a:xfrm>
            <a:off x="6245352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83096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1" name="Shape 99"/>
          <p:cNvSpPr/>
          <p:nvPr/>
        </p:nvSpPr>
        <p:spPr>
          <a:xfrm>
            <a:off x="674827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98601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22376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46150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69924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93699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7473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41248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65022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8879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1257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9443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1821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41985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89534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13308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37083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60857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84632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08406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180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55955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79729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03504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278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1052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74827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98601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2376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46150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69924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93699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7473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841248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65022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8879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257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443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821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41985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65760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9534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13308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37083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60857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84632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08406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32180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5955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79729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03504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27278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51052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74827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98601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22376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46150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69924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93699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7473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41248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3" name="Shape 161"/>
          <p:cNvSpPr/>
          <p:nvPr/>
        </p:nvSpPr>
        <p:spPr>
          <a:xfrm>
            <a:off x="865022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4" name="Shape 162"/>
          <p:cNvSpPr/>
          <p:nvPr/>
        </p:nvSpPr>
        <p:spPr>
          <a:xfrm>
            <a:off x="88879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1257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6" name="Shape 164"/>
          <p:cNvSpPr/>
          <p:nvPr/>
        </p:nvSpPr>
        <p:spPr>
          <a:xfrm>
            <a:off x="29443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7" name="Shape 165"/>
          <p:cNvSpPr/>
          <p:nvPr/>
        </p:nvSpPr>
        <p:spPr>
          <a:xfrm>
            <a:off x="31821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41985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65760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89534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13308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37083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60857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4" name="Shape 172"/>
          <p:cNvSpPr/>
          <p:nvPr/>
        </p:nvSpPr>
        <p:spPr>
          <a:xfrm>
            <a:off x="484632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08406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32180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55955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79729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504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7278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1052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74827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8601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22376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46150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69924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93699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17473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9" name="Shape 187"/>
          <p:cNvSpPr/>
          <p:nvPr/>
        </p:nvSpPr>
        <p:spPr>
          <a:xfrm>
            <a:off x="841248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0" name="Shape 188"/>
          <p:cNvSpPr/>
          <p:nvPr/>
        </p:nvSpPr>
        <p:spPr>
          <a:xfrm>
            <a:off x="865022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1" name="Shape 189"/>
          <p:cNvSpPr/>
          <p:nvPr/>
        </p:nvSpPr>
        <p:spPr>
          <a:xfrm>
            <a:off x="88879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1257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715000" y="2962656"/>
            <a:ext cx="996696" cy="283464"/>
          </a:xfrm>
          <a:prstGeom prst="roundRect">
            <a:avLst>
              <a:gd name="adj" fmla="val 19355"/>
            </a:avLst>
          </a:prstGeom>
          <a:ln w="22860">
            <a:solidFill>
              <a:srgbClr val="A87F2F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213348" y="1975104"/>
            <a:ext cx="0" cy="987552"/>
          </a:xfrm>
          <a:prstGeom prst="line">
            <a:avLst/>
          </a:prstGeom>
          <a:noFill/>
          <a:ln w="15240">
            <a:solidFill>
              <a:srgbClr val="A87F2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287268" y="16824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塾に通うご家庭は、先生が「まずこの数校から」と絞ってくれます</a:t>
            </a:r>
            <a:endParaRPr lang="en-US" sz="1400" dirty="0"/>
          </a:p>
        </p:txBody>
      </p:sp>
      <p:sp>
        <p:nvSpPr>
          <p:cNvPr id="196" name="Text 194"/>
          <p:cNvSpPr/>
          <p:nvPr/>
        </p:nvSpPr>
        <p:spPr>
          <a:xfrm>
            <a:off x="3657600" y="1316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＝ 都立高校 1校</a:t>
            </a:r>
            <a:endParaRPr lang="en-US" sz="1150" dirty="0"/>
          </a:p>
        </p:txBody>
      </p:sp>
      <p:sp>
        <p:nvSpPr>
          <p:cNvPr id="197" name="Text 195"/>
          <p:cNvSpPr/>
          <p:nvPr/>
        </p:nvSpPr>
        <p:spPr>
          <a:xfrm>
            <a:off x="640080" y="4572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塾に通っていないご家庭は、この189校から自分で絞ることになります。</a:t>
            </a:r>
            <a:endParaRPr lang="en-US" sz="1800" dirty="0"/>
          </a:p>
        </p:txBody>
      </p:sp>
      <p:sp>
        <p:nvSpPr>
          <p:cNvPr id="198" name="Text 196"/>
          <p:cNvSpPr/>
          <p:nvPr/>
        </p:nvSpPr>
        <p:spPr>
          <a:xfrm>
            <a:off x="640080" y="5138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2300" dirty="0"/>
          </a:p>
        </p:txBody>
      </p:sp>
      <p:sp>
        <p:nvSpPr>
          <p:cNvPr id="199" name="Text 197"/>
          <p:cNvSpPr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進路コンパスは、この最初の数校をお出しします。</a:t>
            </a:r>
            <a:endParaRPr lang="en-US" sz="2100" dirty="0"/>
          </a:p>
        </p:txBody>
      </p:sp>
      <p:sp>
        <p:nvSpPr>
          <p:cNvPr id="200" name="Text 198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3つの質問に答えると、候補が出ます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78308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74650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最寄り駅と、通える時間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20370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住所は聞きません。最寄り駅と、通える時間だけをうかがいます。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2004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31638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6210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内申は5教科と実技を分けてうかがい、1020点満点での見込みを計算します。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まだ分からない場合は飛ばせます。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6177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5811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希望と、重視したいこと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50383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「吹奏楽をやりたい」「制服がない学校がいい」など、自由に入力できます。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最後に、並べ方の基準を1つ選びます。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余裕・ちょうど・あと一歩を混ぜて出します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お子さんの見込み点を基準に、3つに分けています。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487168"/>
            <a:ext cx="1536192" cy="4754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8716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2487168"/>
            <a:ext cx="2048256" cy="47548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7" name="Text 5"/>
          <p:cNvSpPr/>
          <p:nvPr/>
        </p:nvSpPr>
        <p:spPr>
          <a:xfrm>
            <a:off x="2176272" y="2487168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2487168"/>
            <a:ext cx="1536192" cy="475488"/>
          </a:xfrm>
          <a:prstGeom prst="rect">
            <a:avLst/>
          </a:prstGeom>
          <a:solidFill>
            <a:srgbClr val="C45000"/>
          </a:solidFill>
          <a:ln/>
        </p:spPr>
      </p:sp>
      <p:sp>
        <p:nvSpPr>
          <p:cNvPr id="9" name="Text 7"/>
          <p:cNvSpPr/>
          <p:nvPr/>
        </p:nvSpPr>
        <p:spPr>
          <a:xfrm>
            <a:off x="4224528" y="248716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151790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実際に提案された4校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613002" y="2084832"/>
            <a:ext cx="0" cy="146304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30706" y="2231136"/>
            <a:ext cx="164592" cy="164592"/>
          </a:xfrm>
          <a:prstGeom prst="ellipse">
            <a:avLst/>
          </a:prstGeom>
          <a:solidFill>
            <a:srgbClr val="2E7D32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4362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21178" y="2084832"/>
            <a:ext cx="0" cy="7315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21178" y="2157984"/>
            <a:ext cx="384048" cy="0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05226" y="2157984"/>
            <a:ext cx="0" cy="7315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2930" y="2231136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72538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08755" y="2084832"/>
            <a:ext cx="0" cy="7315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707" y="2157984"/>
            <a:ext cx="384048" cy="0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707" y="2157984"/>
            <a:ext cx="0" cy="7315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42411" y="2231136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0115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竹早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368138" y="2084832"/>
            <a:ext cx="0" cy="146304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85842" y="2231136"/>
            <a:ext cx="164592" cy="164592"/>
          </a:xfrm>
          <a:prstGeom prst="ellipse">
            <a:avLst/>
          </a:prstGeom>
          <a:solidFill>
            <a:srgbClr val="C45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9498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200400" y="2359152"/>
            <a:ext cx="0" cy="731520"/>
          </a:xfrm>
          <a:prstGeom prst="line">
            <a:avLst/>
          </a:prstGeom>
          <a:noFill/>
          <a:ln w="25400">
            <a:solidFill>
              <a:srgbClr val="A87F2F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28800" y="3127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 793点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34198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合格の目安が低い　　　　　　　　　　　高い →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3657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帯の境目は、見込み点との差 60点です。</a:t>
            </a:r>
            <a:endParaRPr lang="en-US" sz="1050" dirty="0"/>
          </a:p>
        </p:txBody>
      </p:sp>
      <p:pic>
        <p:nvPicPr>
          <p:cNvPr id="31" name="Image 0" descr="/tmp/claude-0/-home-user-knowledge-base/ce7faca9-342a-5cd4-886e-c73f2ae459cd/scratchpad/deck/d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18480" cy="361188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32" name="Image 1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88920"/>
            <a:ext cx="1139363" cy="2331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33" name="Text 29"/>
          <p:cNvSpPr/>
          <p:nvPr/>
        </p:nvSpPr>
        <p:spPr>
          <a:xfrm>
            <a:off x="640080" y="4251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1校には絞りません</a:t>
            </a:r>
            <a:endParaRPr lang="en-US" sz="1700" dirty="0"/>
          </a:p>
        </p:txBody>
      </p:sp>
      <p:sp>
        <p:nvSpPr>
          <p:cNvPr id="34" name="Text 30"/>
          <p:cNvSpPr/>
          <p:nvPr/>
        </p:nvSpPr>
        <p:spPr>
          <a:xfrm>
            <a:off x="640080" y="4636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順位はつけずに数校を並べます。どの学校が合うかは、ご家庭で判断していただくためです。</a:t>
            </a:r>
            <a:endParaRPr lang="en-US" sz="1350" dirty="0"/>
          </a:p>
        </p:txBody>
      </p:sp>
      <p:sp>
        <p:nvSpPr>
          <p:cNvPr id="35" name="Text 31"/>
          <p:cNvSpPr/>
          <p:nvPr/>
        </p:nvSpPr>
        <p:spPr>
          <a:xfrm>
            <a:off x="640080" y="5394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高専・定時制も候補に残します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640080" y="5779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入試の方式が違うため判定はせず、「測り方が違う」と書いて出します。</a:t>
            </a:r>
            <a:endParaRPr lang="en-US" sz="1350" dirty="0"/>
          </a:p>
        </p:txBody>
      </p:sp>
      <p:sp>
        <p:nvSpPr>
          <p:cNvPr id="37" name="Text 3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気になった学校を1枚にまとめて印刷できます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049520" cy="32461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1661976" cy="14173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640080" y="6355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スマートフォンでも同じものが見られます。</a:t>
            </a:r>
            <a:endParaRPr lang="en-US" sz="1100" dirty="0"/>
          </a:p>
        </p:txBody>
      </p:sp>
      <p:sp>
        <p:nvSpPr>
          <p:cNvPr id="6" name="Shape 2"/>
          <p:cNvSpPr/>
          <p:nvPr/>
        </p:nvSpPr>
        <p:spPr>
          <a:xfrm>
            <a:off x="5532120" y="18928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7" name="Text 3"/>
          <p:cNvSpPr/>
          <p:nvPr/>
        </p:nvSpPr>
        <p:spPr>
          <a:xfrm>
            <a:off x="5852160" y="17465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部の実績・制服・倍率の5年推移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5852160" y="21854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公式記録から集めた部の実績、制服、倍率の推移を同じ紙に載せています。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532120" y="32644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" name="Text 6"/>
          <p:cNvSpPr/>
          <p:nvPr/>
        </p:nvSpPr>
        <p:spPr>
          <a:xfrm>
            <a:off x="5852160" y="31181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最寄り駅からの位置関係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852160" y="35570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気になる学校を同じ縮尺の地図に並べます。最寄り駅からどの方角に、どれだけ離れているかが分かります。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532120" y="46360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3" name="Text 9"/>
          <p:cNvSpPr/>
          <p:nvPr/>
        </p:nvSpPr>
        <p:spPr>
          <a:xfrm>
            <a:off x="5852160" y="44897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A4で印刷できます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852160" y="49286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学校説明会や見学に持っていき、ご家族で見ながら話せます。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9つの公開データを組み合わせています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480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PDF・HTML・表など形式の違うデータを、1つの画面にまとめています。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すべての表示に出典を付けています。学校の公式サイトや都の資料に、そのまま進めます。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40080" y="544068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A87F2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5412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出典を確認できたデータだけを使っています。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14400" y="592531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大会実績は部の実績として扱っています。生徒の氏名・学年・記録は、収集の時点で読み取っていません。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657600" cy="36576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61904" y="5358384"/>
            <a:ext cx="2633472" cy="2633472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760720"/>
            <a:ext cx="1828800" cy="18288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チームと、これから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区分の判定と並べ方、Cloudflare上の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検索APIを担当しています。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9419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9419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印刷して使えるシートを設計しています。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7764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828800" y="3703320"/>
            <a:ext cx="2683764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3703320"/>
            <a:ext cx="26837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デモは単一HTML・API呼び出しなし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13732" y="3703320"/>
            <a:ext cx="2217420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13732" y="3703320"/>
            <a:ext cx="22174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本番の検索は Workers + D1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0" y="3703320"/>
            <a:ext cx="2528316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3703320"/>
            <a:ext cx="25283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10.5万通りを事前計算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861804" y="3703320"/>
            <a:ext cx="1595628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61804" y="3703320"/>
            <a:ext cx="15956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 51項目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続け方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828800" y="4572000"/>
            <a:ext cx="2450592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28800" y="4572000"/>
            <a:ext cx="2450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更新は GitHub Actions で自動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480560" y="4572000"/>
            <a:ext cx="1440180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4572000"/>
            <a:ext cx="14401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 月数百円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21908" y="4572000"/>
            <a:ext cx="1673352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1908" y="4572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次は私立高校と校風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996428" y="4572000"/>
            <a:ext cx="1984248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96428" y="4572000"/>
            <a:ext cx="1984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やさしい日本語・多言語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塾に通っていないご家庭が、学校選びを始められる場所にしたいと考えています。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2026-08-23T05:51:45Z</dcterms:created>
  <dcterms:modified xsi:type="dcterms:W3CDTF">2026-08-23T05:51:45Z</dcterms:modified>
</cp:coreProperties>
</file>