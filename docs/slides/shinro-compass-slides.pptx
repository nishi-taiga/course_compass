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4754880" cy="475488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29523" y="-614477"/>
            <a:ext cx="3423514" cy="3423514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-91440"/>
            <a:ext cx="2377440" cy="237744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0" y="1097280"/>
            <a:ext cx="4754880" cy="0"/>
          </a:xfrm>
          <a:prstGeom prst="line">
            <a:avLst/>
          </a:prstGeom>
          <a:noFill/>
          <a:ln w="9525">
            <a:solidFill>
              <a:srgbClr val="C9A85C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0" y="-1280160"/>
            <a:ext cx="0" cy="4754880"/>
          </a:xfrm>
          <a:prstGeom prst="line">
            <a:avLst/>
          </a:prstGeom>
          <a:noFill/>
          <a:ln w="9525">
            <a:solidFill>
              <a:srgbClr val="C9A85C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91440" y="4389120"/>
            <a:ext cx="3108960" cy="310896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3814" y="4824374"/>
            <a:ext cx="2238451" cy="2238451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5166360"/>
            <a:ext cx="1554480" cy="155448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-91440" y="5943600"/>
            <a:ext cx="3108960" cy="0"/>
          </a:xfrm>
          <a:prstGeom prst="line">
            <a:avLst/>
          </a:prstGeom>
          <a:noFill/>
          <a:ln w="9525">
            <a:solidFill>
              <a:srgbClr val="C9A85C">
                <a:alpha val="14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63040" y="4389120"/>
            <a:ext cx="0" cy="3108960"/>
          </a:xfrm>
          <a:prstGeom prst="line">
            <a:avLst/>
          </a:prstGeom>
          <a:noFill/>
          <a:ln w="9525">
            <a:solidFill>
              <a:srgbClr val="C9A85C">
                <a:alpha val="14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10428" y="1170432"/>
            <a:ext cx="768096" cy="768096"/>
          </a:xfrm>
          <a:prstGeom prst="ellipse">
            <a:avLst/>
          </a:prstGeom>
          <a:solidFill>
            <a:srgbClr val="0B101C">
              <a:alpha val="0"/>
            </a:srgbClr>
          </a:solidFill>
          <a:ln w="25400">
            <a:solidFill>
              <a:srgbClr val="C9A8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0428" y="117043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0" y="228600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進路コンパス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0" y="34290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会話で見つける、わが子に合う都立高校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0" y="406908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塾のような志望校選びを、どの家庭にも。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0" y="56235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Team WINS</a:t>
            </a:r>
            <a:pPr algn="ctr" indent="0" marL="0">
              <a:buNone/>
            </a:pPr>
            <a:r>
              <a:rPr lang="en-US" sz="14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西 ・ 寒河江 ・ 安田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都知事杯オープンデータ・ハッカソン2026 サービス開発部門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都立高校選びは、情報集めがしんどい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  <a:effectLst>
            <a:outerShdw sx="100000" sy="100000" kx="0" ky="0" algn="bl" rotWithShape="0" blurRad="101600" dist="38100" dir="5400000">
              <a:srgbClr val="1A2333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8745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352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189校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68680" y="28346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都立高校＋高専。名前を全部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言える保護者はいない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89120" y="160020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  <a:effectLst>
            <a:outerShdw sx="100000" sy="100000" kx="0" ky="0" algn="bl" rotWithShape="0" blurRad="101600" dist="38100" dir="5400000">
              <a:srgbClr val="1A2333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389120" y="18745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352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7つ以上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617720" y="28346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倍率・内申・部活・通学・制服・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課程・実績 — 見る観点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38160" y="160020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  <a:effectLst>
            <a:outerShdw sx="100000" sy="100000" kx="0" ky="0" algn="bl" rotWithShape="0" blurRad="101600" dist="38100" dir="5400000">
              <a:srgbClr val="1A2333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138160" y="18745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352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バラバラ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366760" y="28346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情報は学校サイト・都教委・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連盟の記録に散在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4343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塾に通う家庭には、面談で一緒に考えてくれる先生がいる。
</a:t>
            </a:r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通わない家庭には、その相談相手がいない。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4008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進路コンパスは、その「塾の面談」を会話AIで再現します。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使い方 — 3つの質問に答えるだけ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s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2497926" cy="493776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4206240" y="164592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5" name="Text 2"/>
          <p:cNvSpPr/>
          <p:nvPr/>
        </p:nvSpPr>
        <p:spPr>
          <a:xfrm>
            <a:off x="420624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983480" y="160934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最寄り駅と通学時間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983480" y="2084832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住所は聞きません。「練馬駅から45分以内」だけで始められます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206240" y="306324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9" name="Text 6"/>
          <p:cNvSpPr/>
          <p:nvPr/>
        </p:nvSpPr>
        <p:spPr>
          <a:xfrm>
            <a:off x="4206240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983480" y="302666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成績の目安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983480" y="3502152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内申は5教科と実技を分けて聞き、1020点満点の見込みを一緒に計算。「まだ分からない」でも進めます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206240" y="448056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13" name="Text 10"/>
          <p:cNvSpPr/>
          <p:nvPr/>
        </p:nvSpPr>
        <p:spPr>
          <a:xfrm>
            <a:off x="4206240" y="44805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983480" y="444398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希望と、いちばん大事なこと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983480" y="4919472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「吹奏楽をやりたい」「制服がない学校がいい」を自由な言葉で。最後に重視軸（近さ／進学／届きそう）を1つ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983480" y="59893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所要3分 ・ 会話は規則ベース＋LLM（Workers AI）の二段構え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3つの圏に分けて提案 — 並べ方は家庭の価値観で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s_car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1463040"/>
            <a:ext cx="2497926" cy="493776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640080" y="160020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2E7D32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60020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安全圏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2194560" y="160020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余裕をもって臨める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313432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0D47A1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1343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適正圏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2194560" y="23134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いまの見込みで届く範囲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3026664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C45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2666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挑戦圏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2194560" y="3026664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あと一歩で届く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40080" y="3977640"/>
            <a:ext cx="7406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重視軸で並びが変わる
</a:t>
            </a:r>
            <a:pPr indent="0" marL="0">
              <a:buNone/>
            </a:pPr>
            <a:r>
              <a:rPr lang="en-US" sz="13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「通学の近さ」なら近い順、「大学進学」なら進学指導指定校を先に、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「いま届きそう」なら安全圏から。何を最優先にしたかは必ず一文目で伝えます。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0080" y="5257800"/>
            <a:ext cx="7406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点数で測れない学校も、正しく出す
</a:t>
            </a:r>
            <a:pPr indent="0" marL="0">
              <a:buNone/>
            </a:pPr>
            <a:r>
              <a:rPr lang="en-US" sz="13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ものづくり志望には高専を提案。定時制・エンカレッジ校は「測り方が違う」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ことを明示し、データ不備に見せません。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くらべるシート — 学校見学に持っていける1枚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s_shee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4664256" cy="397764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623560" y="161848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5" name="Text 2"/>
          <p:cNvSpPr/>
          <p:nvPr/>
        </p:nvSpPr>
        <p:spPr>
          <a:xfrm>
            <a:off x="5943600" y="1490472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自宅の最寄駅を起点に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943600" y="190195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気になる学校を同じ縮尺の1枚地図で。家からの方角と距離がひと目で分かります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623560" y="2651760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2523744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公式記録の部活実績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943600" y="2935224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都高体連・高野連・吹奏楽連盟・美術展の記録から、部の実績として掲載（個人名なし）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23560" y="3685032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0" y="3557016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制服・倍率5年推移・学校の言葉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5943600" y="3968496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本人が気になる情報も1枚に。出典は全項目に明記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23560" y="4718304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4" name="Text 11"/>
          <p:cNvSpPr/>
          <p:nvPr/>
        </p:nvSpPr>
        <p:spPr>
          <a:xfrm>
            <a:off x="5943600" y="459028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A4印刷対応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5943600" y="5001768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印刷して学校説明会や家族会議へ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出典を示せるデータだけで作る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4290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学校一覧・学科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41248" y="188366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都教委 オープンデータ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389120" y="1463040"/>
            <a:ext cx="34290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0288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応募倍率 R4〜R8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90288" y="188366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都教委 応募状況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0" y="1463040"/>
            <a:ext cx="34290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39328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部活 約5,000件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39328" y="188366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全189校の公式サイト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450592"/>
            <a:ext cx="34290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25237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運動部の実績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41248" y="287121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都高体連 公式記録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2450592"/>
            <a:ext cx="34290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0288" y="25237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硬式野球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90288" y="287121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都高野連 試合結果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38160" y="2450592"/>
            <a:ext cx="34290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25237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吹奏楽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339328" y="287121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都吹奏楽連盟 コンクール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38144"/>
            <a:ext cx="34290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" y="35112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美術・書道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41248" y="38587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高校生国際美術展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89120" y="3438144"/>
            <a:ext cx="34290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0288" y="35112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制服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90288" y="38587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38160" y="3438144"/>
            <a:ext cx="342900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39328" y="35112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通学時間 10.5万通り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39328" y="38587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駅間グラフ自前計算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40080" y="4617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個人情報の扱い　</a:t>
            </a:r>
            <a:pPr indent="0" marL="0">
              <a:buNone/>
            </a:pPr>
            <a:r>
              <a:rPr lang="en-US" sz="13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大会実績は部の実績として収集。生徒の氏名・学年・記録は収集の時点で読み取らず、列そのものを作りません。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5166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　</a:t>
            </a:r>
            <a:pPr indent="0" marL="0">
              <a:buNone/>
            </a:pPr>
            <a:r>
              <a:rPr lang="en-US" sz="13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デモ: 単一HTML（GitHub Pages）／ API: Cloudflare Workers + D1 + Workers AI（Qwen3-30B）— 応答0.7〜1.3秒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すべての表示に出典を明記 — 出典を出せないデータは載せない、が開発ルール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4846320"/>
            <a:ext cx="3474720" cy="347472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36301" y="5332781"/>
            <a:ext cx="2501798" cy="2501798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18520" y="5715000"/>
            <a:ext cx="1737360" cy="173736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0" y="6583680"/>
            <a:ext cx="3474720" cy="0"/>
          </a:xfrm>
          <a:prstGeom prst="line">
            <a:avLst/>
          </a:prstGeom>
          <a:noFill/>
          <a:ln w="9525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0" y="4846320"/>
            <a:ext cx="0" cy="3474720"/>
          </a:xfrm>
          <a:prstGeom prst="line">
            <a:avLst/>
          </a:prstGeom>
          <a:noFill/>
          <a:ln w="9525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これから広げること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40080" y="1600200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0B101C">
              <a:alpha val="0"/>
            </a:srgbClr>
          </a:solidFill>
          <a:ln w="19050">
            <a:solidFill>
              <a:srgbClr val="C9A8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6002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48840" y="1554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都立189校＋高専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148840" y="20116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対話・3圏の提案・重視軸・部活/制服/実績・くらべるシート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252728" y="2103120"/>
            <a:ext cx="0" cy="868680"/>
          </a:xfrm>
          <a:prstGeom prst="line">
            <a:avLst/>
          </a:prstGeom>
          <a:noFill/>
          <a:ln w="19050">
            <a:solidFill>
              <a:srgbClr val="2B3650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40080" y="2971800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0B101C">
              <a:alpha val="0"/>
            </a:srgbClr>
          </a:solidFill>
          <a:ln w="19050">
            <a:solidFill>
              <a:srgbClr val="8FA8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9718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A8C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48840" y="2926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選択肢を広げる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148840" y="33832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私立高校への対応 ／ 口コミ・校風データ ／ 実ダイヤに基づく通学時間 ／ ESAT-J・説明会日程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252728" y="3474720"/>
            <a:ext cx="0" cy="868680"/>
          </a:xfrm>
          <a:prstGeom prst="line">
            <a:avLst/>
          </a:prstGeom>
          <a:noFill/>
          <a:ln w="19050">
            <a:solidFill>
              <a:srgbClr val="2B3650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40080" y="4343400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0B101C">
              <a:alpha val="0"/>
            </a:srgbClr>
          </a:solidFill>
          <a:ln w="19050">
            <a:solidFill>
              <a:srgbClr val="6C7A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3434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7A9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その先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148840" y="4297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みんなで育てる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148840" y="47548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学校からの情報更新窓口 ／ やさしい日本語・多言語対応 ／ 志望校の変化を追う「マイコンパス」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迷子にならない進路選びを、東京のすべての家庭に。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進路コンパス</dc:title>
  <dc:subject>PptxGenJS Presentation</dc:subject>
  <dc:creator>Team WINS</dc:creator>
  <cp:lastModifiedBy>Team WINS</cp:lastModifiedBy>
  <cp:revision>1</cp:revision>
  <dcterms:created xsi:type="dcterms:W3CDTF">2026-08-21T05:25:27Z</dcterms:created>
  <dcterms:modified xsi:type="dcterms:W3CDTF">2026-08-21T05:25:27Z</dcterms:modified>
</cp:coreProperties>
</file>