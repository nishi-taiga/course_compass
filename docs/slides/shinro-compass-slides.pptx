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4937760" cy="49377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9446" y="-771754"/>
            <a:ext cx="3555187" cy="3555187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-228600"/>
            <a:ext cx="2468880" cy="246888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4480560"/>
            <a:ext cx="3474720" cy="347472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1" y="4967021"/>
            <a:ext cx="2501798" cy="2501798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5349240"/>
            <a:ext cx="1737360" cy="173736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10428" y="1188720"/>
            <a:ext cx="768096" cy="768096"/>
          </a:xfrm>
          <a:prstGeom prst="ellipse">
            <a:avLst/>
          </a:prstGeom>
          <a:solidFill>
            <a:srgbClr val="0B101C">
              <a:alpha val="0"/>
            </a:srgbClr>
          </a:solidFill>
          <a:ln w="25400">
            <a:solidFill>
              <a:srgbClr val="C9A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0428" y="118872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0" y="2240280"/>
            <a:ext cx="121889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0" y="3401568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都立高校選びの、はじめの一歩を。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0" y="4059936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塾に通っていなくても、ここから始められる。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Team WINS</a:t>
            </a:r>
            <a:pPr algn="ctr" indent="0" marL="0">
              <a:buNone/>
            </a:pPr>
            <a:r>
              <a:rPr lang="en-US" sz="14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西 ・ 寒河江 ・ 安田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都知事杯オープンデータ・ハッカソン2026 サービス開発部門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どこから見ればいいか、分からない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都立高校は189校。この中から、わが子に合う数校を選びます。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527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塾に通う家庭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6868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" name="Shape 5"/>
          <p:cNvSpPr/>
          <p:nvPr/>
        </p:nvSpPr>
        <p:spPr>
          <a:xfrm>
            <a:off x="121615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" name="Shape 6"/>
          <p:cNvSpPr/>
          <p:nvPr/>
        </p:nvSpPr>
        <p:spPr>
          <a:xfrm>
            <a:off x="138988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" name="Shape 7"/>
          <p:cNvSpPr/>
          <p:nvPr/>
        </p:nvSpPr>
        <p:spPr>
          <a:xfrm>
            <a:off x="156362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" name="Shape 8"/>
          <p:cNvSpPr/>
          <p:nvPr/>
        </p:nvSpPr>
        <p:spPr>
          <a:xfrm>
            <a:off x="173736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" name="Shape 9"/>
          <p:cNvSpPr/>
          <p:nvPr/>
        </p:nvSpPr>
        <p:spPr>
          <a:xfrm>
            <a:off x="191109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8483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" name="Shape 11"/>
          <p:cNvSpPr/>
          <p:nvPr/>
        </p:nvSpPr>
        <p:spPr>
          <a:xfrm>
            <a:off x="225856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230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" name="Shape 13"/>
          <p:cNvSpPr/>
          <p:nvPr/>
        </p:nvSpPr>
        <p:spPr>
          <a:xfrm>
            <a:off x="260604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977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" name="Shape 15"/>
          <p:cNvSpPr/>
          <p:nvPr/>
        </p:nvSpPr>
        <p:spPr>
          <a:xfrm>
            <a:off x="295351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" name="Shape 16"/>
          <p:cNvSpPr/>
          <p:nvPr/>
        </p:nvSpPr>
        <p:spPr>
          <a:xfrm>
            <a:off x="312724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" name="Shape 17"/>
          <p:cNvSpPr/>
          <p:nvPr/>
        </p:nvSpPr>
        <p:spPr>
          <a:xfrm>
            <a:off x="330098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" name="Shape 18"/>
          <p:cNvSpPr/>
          <p:nvPr/>
        </p:nvSpPr>
        <p:spPr>
          <a:xfrm>
            <a:off x="347472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" name="Shape 19"/>
          <p:cNvSpPr/>
          <p:nvPr/>
        </p:nvSpPr>
        <p:spPr>
          <a:xfrm>
            <a:off x="364845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" name="Shape 20"/>
          <p:cNvSpPr/>
          <p:nvPr/>
        </p:nvSpPr>
        <p:spPr>
          <a:xfrm>
            <a:off x="382219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" name="Shape 21"/>
          <p:cNvSpPr/>
          <p:nvPr/>
        </p:nvSpPr>
        <p:spPr>
          <a:xfrm>
            <a:off x="399592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" name="Shape 22"/>
          <p:cNvSpPr/>
          <p:nvPr/>
        </p:nvSpPr>
        <p:spPr>
          <a:xfrm>
            <a:off x="416966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340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" name="Shape 24"/>
          <p:cNvSpPr/>
          <p:nvPr/>
        </p:nvSpPr>
        <p:spPr>
          <a:xfrm>
            <a:off x="86868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" name="Shape 25"/>
          <p:cNvSpPr/>
          <p:nvPr/>
        </p:nvSpPr>
        <p:spPr>
          <a:xfrm>
            <a:off x="104241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" name="Shape 26"/>
          <p:cNvSpPr/>
          <p:nvPr/>
        </p:nvSpPr>
        <p:spPr>
          <a:xfrm>
            <a:off x="121615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" name="Shape 27"/>
          <p:cNvSpPr/>
          <p:nvPr/>
        </p:nvSpPr>
        <p:spPr>
          <a:xfrm>
            <a:off x="138988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" name="Shape 28"/>
          <p:cNvSpPr/>
          <p:nvPr/>
        </p:nvSpPr>
        <p:spPr>
          <a:xfrm>
            <a:off x="156362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" name="Shape 29"/>
          <p:cNvSpPr/>
          <p:nvPr/>
        </p:nvSpPr>
        <p:spPr>
          <a:xfrm>
            <a:off x="1705356" y="2537460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109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" name="Shape 31"/>
          <p:cNvSpPr/>
          <p:nvPr/>
        </p:nvSpPr>
        <p:spPr>
          <a:xfrm>
            <a:off x="208483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" name="Shape 32"/>
          <p:cNvSpPr/>
          <p:nvPr/>
        </p:nvSpPr>
        <p:spPr>
          <a:xfrm>
            <a:off x="225856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" name="Shape 33"/>
          <p:cNvSpPr/>
          <p:nvPr/>
        </p:nvSpPr>
        <p:spPr>
          <a:xfrm>
            <a:off x="243230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" name="Shape 34"/>
          <p:cNvSpPr/>
          <p:nvPr/>
        </p:nvSpPr>
        <p:spPr>
          <a:xfrm>
            <a:off x="260604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" name="Shape 35"/>
          <p:cNvSpPr/>
          <p:nvPr/>
        </p:nvSpPr>
        <p:spPr>
          <a:xfrm>
            <a:off x="277977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" name="Shape 36"/>
          <p:cNvSpPr/>
          <p:nvPr/>
        </p:nvSpPr>
        <p:spPr>
          <a:xfrm>
            <a:off x="295351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12724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0" name="Shape 38"/>
          <p:cNvSpPr/>
          <p:nvPr/>
        </p:nvSpPr>
        <p:spPr>
          <a:xfrm>
            <a:off x="330098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1" name="Shape 39"/>
          <p:cNvSpPr/>
          <p:nvPr/>
        </p:nvSpPr>
        <p:spPr>
          <a:xfrm>
            <a:off x="347472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2" name="Shape 40"/>
          <p:cNvSpPr/>
          <p:nvPr/>
        </p:nvSpPr>
        <p:spPr>
          <a:xfrm>
            <a:off x="364845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3" name="Shape 41"/>
          <p:cNvSpPr/>
          <p:nvPr/>
        </p:nvSpPr>
        <p:spPr>
          <a:xfrm>
            <a:off x="382219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4" name="Shape 42"/>
          <p:cNvSpPr/>
          <p:nvPr/>
        </p:nvSpPr>
        <p:spPr>
          <a:xfrm>
            <a:off x="399592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5" name="Shape 43"/>
          <p:cNvSpPr/>
          <p:nvPr/>
        </p:nvSpPr>
        <p:spPr>
          <a:xfrm>
            <a:off x="416966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6" name="Shape 44"/>
          <p:cNvSpPr/>
          <p:nvPr/>
        </p:nvSpPr>
        <p:spPr>
          <a:xfrm>
            <a:off x="434340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7" name="Shape 45"/>
          <p:cNvSpPr/>
          <p:nvPr/>
        </p:nvSpPr>
        <p:spPr>
          <a:xfrm>
            <a:off x="86868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8" name="Shape 46"/>
          <p:cNvSpPr/>
          <p:nvPr/>
        </p:nvSpPr>
        <p:spPr>
          <a:xfrm>
            <a:off x="104241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49" name="Shape 47"/>
          <p:cNvSpPr/>
          <p:nvPr/>
        </p:nvSpPr>
        <p:spPr>
          <a:xfrm>
            <a:off x="121615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0" name="Shape 48"/>
          <p:cNvSpPr/>
          <p:nvPr/>
        </p:nvSpPr>
        <p:spPr>
          <a:xfrm>
            <a:off x="138988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1" name="Shape 49"/>
          <p:cNvSpPr/>
          <p:nvPr/>
        </p:nvSpPr>
        <p:spPr>
          <a:xfrm>
            <a:off x="156362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2" name="Shape 50"/>
          <p:cNvSpPr/>
          <p:nvPr/>
        </p:nvSpPr>
        <p:spPr>
          <a:xfrm>
            <a:off x="173736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3" name="Shape 51"/>
          <p:cNvSpPr/>
          <p:nvPr/>
        </p:nvSpPr>
        <p:spPr>
          <a:xfrm>
            <a:off x="191109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4" name="Shape 52"/>
          <p:cNvSpPr/>
          <p:nvPr/>
        </p:nvSpPr>
        <p:spPr>
          <a:xfrm>
            <a:off x="208483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5" name="Shape 53"/>
          <p:cNvSpPr/>
          <p:nvPr/>
        </p:nvSpPr>
        <p:spPr>
          <a:xfrm>
            <a:off x="225856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6" name="Shape 54"/>
          <p:cNvSpPr/>
          <p:nvPr/>
        </p:nvSpPr>
        <p:spPr>
          <a:xfrm>
            <a:off x="243230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7" name="Shape 55"/>
          <p:cNvSpPr/>
          <p:nvPr/>
        </p:nvSpPr>
        <p:spPr>
          <a:xfrm>
            <a:off x="260604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8" name="Shape 56"/>
          <p:cNvSpPr/>
          <p:nvPr/>
        </p:nvSpPr>
        <p:spPr>
          <a:xfrm>
            <a:off x="277977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59" name="Shape 57"/>
          <p:cNvSpPr/>
          <p:nvPr/>
        </p:nvSpPr>
        <p:spPr>
          <a:xfrm>
            <a:off x="295351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0" name="Shape 58"/>
          <p:cNvSpPr/>
          <p:nvPr/>
        </p:nvSpPr>
        <p:spPr>
          <a:xfrm>
            <a:off x="312724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1" name="Shape 59"/>
          <p:cNvSpPr/>
          <p:nvPr/>
        </p:nvSpPr>
        <p:spPr>
          <a:xfrm>
            <a:off x="330098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2" name="Shape 60"/>
          <p:cNvSpPr/>
          <p:nvPr/>
        </p:nvSpPr>
        <p:spPr>
          <a:xfrm>
            <a:off x="347472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4845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4" name="Shape 62"/>
          <p:cNvSpPr/>
          <p:nvPr/>
        </p:nvSpPr>
        <p:spPr>
          <a:xfrm>
            <a:off x="382219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9592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6" name="Shape 64"/>
          <p:cNvSpPr/>
          <p:nvPr/>
        </p:nvSpPr>
        <p:spPr>
          <a:xfrm>
            <a:off x="416966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7" name="Shape 65"/>
          <p:cNvSpPr/>
          <p:nvPr/>
        </p:nvSpPr>
        <p:spPr>
          <a:xfrm>
            <a:off x="434340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8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69" name="Shape 67"/>
          <p:cNvSpPr/>
          <p:nvPr/>
        </p:nvSpPr>
        <p:spPr>
          <a:xfrm>
            <a:off x="104241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0" name="Shape 68"/>
          <p:cNvSpPr/>
          <p:nvPr/>
        </p:nvSpPr>
        <p:spPr>
          <a:xfrm>
            <a:off x="121615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1" name="Shape 69"/>
          <p:cNvSpPr/>
          <p:nvPr/>
        </p:nvSpPr>
        <p:spPr>
          <a:xfrm>
            <a:off x="138988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2" name="Shape 70"/>
          <p:cNvSpPr/>
          <p:nvPr/>
        </p:nvSpPr>
        <p:spPr>
          <a:xfrm>
            <a:off x="156362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3" name="Shape 71"/>
          <p:cNvSpPr/>
          <p:nvPr/>
        </p:nvSpPr>
        <p:spPr>
          <a:xfrm>
            <a:off x="1705356" y="2884932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74" name="Shape 72"/>
          <p:cNvSpPr/>
          <p:nvPr/>
        </p:nvSpPr>
        <p:spPr>
          <a:xfrm>
            <a:off x="191109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5" name="Shape 73"/>
          <p:cNvSpPr/>
          <p:nvPr/>
        </p:nvSpPr>
        <p:spPr>
          <a:xfrm>
            <a:off x="208483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6" name="Shape 74"/>
          <p:cNvSpPr/>
          <p:nvPr/>
        </p:nvSpPr>
        <p:spPr>
          <a:xfrm>
            <a:off x="225856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7" name="Shape 75"/>
          <p:cNvSpPr/>
          <p:nvPr/>
        </p:nvSpPr>
        <p:spPr>
          <a:xfrm>
            <a:off x="243230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8" name="Shape 76"/>
          <p:cNvSpPr/>
          <p:nvPr/>
        </p:nvSpPr>
        <p:spPr>
          <a:xfrm>
            <a:off x="260604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79" name="Shape 77"/>
          <p:cNvSpPr/>
          <p:nvPr/>
        </p:nvSpPr>
        <p:spPr>
          <a:xfrm>
            <a:off x="277977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0" name="Shape 78"/>
          <p:cNvSpPr/>
          <p:nvPr/>
        </p:nvSpPr>
        <p:spPr>
          <a:xfrm>
            <a:off x="295351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1" name="Shape 79"/>
          <p:cNvSpPr/>
          <p:nvPr/>
        </p:nvSpPr>
        <p:spPr>
          <a:xfrm>
            <a:off x="312724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0098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7472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4" name="Shape 82"/>
          <p:cNvSpPr/>
          <p:nvPr/>
        </p:nvSpPr>
        <p:spPr>
          <a:xfrm>
            <a:off x="364845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5" name="Shape 83"/>
          <p:cNvSpPr/>
          <p:nvPr/>
        </p:nvSpPr>
        <p:spPr>
          <a:xfrm>
            <a:off x="382219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6" name="Shape 84"/>
          <p:cNvSpPr/>
          <p:nvPr/>
        </p:nvSpPr>
        <p:spPr>
          <a:xfrm>
            <a:off x="399592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7" name="Shape 85"/>
          <p:cNvSpPr/>
          <p:nvPr/>
        </p:nvSpPr>
        <p:spPr>
          <a:xfrm>
            <a:off x="416966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8" name="Shape 86"/>
          <p:cNvSpPr/>
          <p:nvPr/>
        </p:nvSpPr>
        <p:spPr>
          <a:xfrm>
            <a:off x="434340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89" name="Shape 87"/>
          <p:cNvSpPr/>
          <p:nvPr/>
        </p:nvSpPr>
        <p:spPr>
          <a:xfrm>
            <a:off x="86868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0" name="Shape 88"/>
          <p:cNvSpPr/>
          <p:nvPr/>
        </p:nvSpPr>
        <p:spPr>
          <a:xfrm>
            <a:off x="104241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1" name="Shape 89"/>
          <p:cNvSpPr/>
          <p:nvPr/>
        </p:nvSpPr>
        <p:spPr>
          <a:xfrm>
            <a:off x="121615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2" name="Shape 90"/>
          <p:cNvSpPr/>
          <p:nvPr/>
        </p:nvSpPr>
        <p:spPr>
          <a:xfrm>
            <a:off x="138988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3" name="Shape 91"/>
          <p:cNvSpPr/>
          <p:nvPr/>
        </p:nvSpPr>
        <p:spPr>
          <a:xfrm>
            <a:off x="156362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5" name="Shape 93"/>
          <p:cNvSpPr/>
          <p:nvPr/>
        </p:nvSpPr>
        <p:spPr>
          <a:xfrm>
            <a:off x="191109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6" name="Shape 94"/>
          <p:cNvSpPr/>
          <p:nvPr/>
        </p:nvSpPr>
        <p:spPr>
          <a:xfrm>
            <a:off x="208483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7" name="Shape 95"/>
          <p:cNvSpPr/>
          <p:nvPr/>
        </p:nvSpPr>
        <p:spPr>
          <a:xfrm>
            <a:off x="225856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8" name="Shape 96"/>
          <p:cNvSpPr/>
          <p:nvPr/>
        </p:nvSpPr>
        <p:spPr>
          <a:xfrm>
            <a:off x="243230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99" name="Shape 97"/>
          <p:cNvSpPr/>
          <p:nvPr/>
        </p:nvSpPr>
        <p:spPr>
          <a:xfrm>
            <a:off x="260604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7977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5351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12724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30098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47472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4845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82219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99592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16966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4340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6868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241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21615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38988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56362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73736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91109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08483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25856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230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574036" y="3232404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7977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95351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12724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0098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7472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64845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82219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99592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16966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4340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6868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4241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21615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38988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56362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73736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91109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08483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25856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43230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60604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77977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95351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12724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30098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47472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364845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82219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399592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16966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34340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6868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4241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21615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38988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56362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705356" y="3579876"/>
            <a:ext cx="155448" cy="155448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91109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208483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225856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243230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260604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277977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295351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312724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330098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347472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64845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99592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16966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34340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6868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4241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21615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38988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56362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173736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191109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208483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225856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243230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260604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277977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295351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312724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330098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47472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364845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382219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399592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416966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434340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4" name="Text 192"/>
          <p:cNvSpPr/>
          <p:nvPr/>
        </p:nvSpPr>
        <p:spPr>
          <a:xfrm>
            <a:off x="868680" y="4069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面談で「この数校から見てみよう」と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先生が一緒に見当をつけてくれる。</a:t>
            </a:r>
            <a:endParaRPr lang="en-US" sz="1350" dirty="0"/>
          </a:p>
        </p:txBody>
      </p:sp>
      <p:sp>
        <p:nvSpPr>
          <p:cNvPr id="195" name="Text 193"/>
          <p:cNvSpPr/>
          <p:nvPr/>
        </p:nvSpPr>
        <p:spPr>
          <a:xfrm>
            <a:off x="699516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通っていない家庭</a:t>
            </a:r>
            <a:endParaRPr lang="en-US" sz="1800" dirty="0"/>
          </a:p>
        </p:txBody>
      </p:sp>
      <p:sp>
        <p:nvSpPr>
          <p:cNvPr id="196" name="Shape 194"/>
          <p:cNvSpPr/>
          <p:nvPr/>
        </p:nvSpPr>
        <p:spPr>
          <a:xfrm>
            <a:off x="699516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16889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34263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51636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9010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86384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03757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21131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838504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855878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73252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90625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907999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925372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942746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960120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774936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9948672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10122408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296144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10469880" y="239572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99516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716889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4263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51636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69010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786384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803757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821131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838504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855878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873252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890625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907999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925372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942746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960120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774936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948672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0122408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0296144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10469880" y="256946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99516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716889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4263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751636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69010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786384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803757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21131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838504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55878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873252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90625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907999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25372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42746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960120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9774936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9948672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10122408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10296144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10469880" y="274320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99516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716889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34263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751636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769010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86384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03757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821131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838504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855878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873252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890625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07999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25372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42746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960120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74936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948672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10122408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10296144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469880" y="291693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99516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716889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734263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751636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769010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786384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803757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821131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838504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855878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873252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890625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907999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925372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942746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960120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9774936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9948672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10122408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10296144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10469880" y="3090672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99516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16889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34263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51636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69010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86384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3757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21131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838504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855878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873252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890625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907999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925372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42746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60120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9774936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9948672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0122408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296144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0469880" y="3264408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99516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716889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734263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751636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769010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786384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803757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821131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838504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855878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873252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890625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907999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925372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942746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960120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9774936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9948672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10122408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10296144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10469880" y="3438144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99516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716889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734263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751636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769010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786384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803757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821131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838504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855878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873252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890625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907999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925372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7" name="Shape 355"/>
          <p:cNvSpPr/>
          <p:nvPr/>
        </p:nvSpPr>
        <p:spPr>
          <a:xfrm>
            <a:off x="942746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8" name="Shape 356"/>
          <p:cNvSpPr/>
          <p:nvPr/>
        </p:nvSpPr>
        <p:spPr>
          <a:xfrm>
            <a:off x="960120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9774936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0" name="Shape 358"/>
          <p:cNvSpPr/>
          <p:nvPr/>
        </p:nvSpPr>
        <p:spPr>
          <a:xfrm>
            <a:off x="9948672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10122408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10296144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10469880" y="3611880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699516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16889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34263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51636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769010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86384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803757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21131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838504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855878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73252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5" name="Shape 373"/>
          <p:cNvSpPr/>
          <p:nvPr/>
        </p:nvSpPr>
        <p:spPr>
          <a:xfrm>
            <a:off x="890625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6" name="Shape 374"/>
          <p:cNvSpPr/>
          <p:nvPr/>
        </p:nvSpPr>
        <p:spPr>
          <a:xfrm>
            <a:off x="907999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7" name="Shape 375"/>
          <p:cNvSpPr/>
          <p:nvPr/>
        </p:nvSpPr>
        <p:spPr>
          <a:xfrm>
            <a:off x="925372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8" name="Shape 376"/>
          <p:cNvSpPr/>
          <p:nvPr/>
        </p:nvSpPr>
        <p:spPr>
          <a:xfrm>
            <a:off x="942746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79" name="Shape 377"/>
          <p:cNvSpPr/>
          <p:nvPr/>
        </p:nvSpPr>
        <p:spPr>
          <a:xfrm>
            <a:off x="960120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0" name="Shape 378"/>
          <p:cNvSpPr/>
          <p:nvPr/>
        </p:nvSpPr>
        <p:spPr>
          <a:xfrm>
            <a:off x="9774936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1" name="Shape 379"/>
          <p:cNvSpPr/>
          <p:nvPr/>
        </p:nvSpPr>
        <p:spPr>
          <a:xfrm>
            <a:off x="9948672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2" name="Shape 380"/>
          <p:cNvSpPr/>
          <p:nvPr/>
        </p:nvSpPr>
        <p:spPr>
          <a:xfrm>
            <a:off x="10122408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3" name="Shape 381"/>
          <p:cNvSpPr/>
          <p:nvPr/>
        </p:nvSpPr>
        <p:spPr>
          <a:xfrm>
            <a:off x="10296144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4" name="Shape 382"/>
          <p:cNvSpPr/>
          <p:nvPr/>
        </p:nvSpPr>
        <p:spPr>
          <a:xfrm>
            <a:off x="10469880" y="3785616"/>
            <a:ext cx="91440" cy="91440"/>
          </a:xfrm>
          <a:prstGeom prst="ellipse">
            <a:avLst/>
          </a:prstGeom>
          <a:solidFill>
            <a:srgbClr val="C7D0DE"/>
          </a:solidFill>
          <a:ln/>
        </p:spPr>
      </p:sp>
      <p:sp>
        <p:nvSpPr>
          <p:cNvPr id="385" name="Text 383"/>
          <p:cNvSpPr/>
          <p:nvPr/>
        </p:nvSpPr>
        <p:spPr>
          <a:xfrm>
            <a:off x="6995160" y="4069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189校が、同じ重さで並んだまま。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どこから絞るかを、自分で決める。</a:t>
            </a:r>
            <a:endParaRPr lang="en-US" sz="1350" dirty="0"/>
          </a:p>
        </p:txBody>
      </p:sp>
      <p:sp>
        <p:nvSpPr>
          <p:cNvPr id="386" name="Text 384"/>
          <p:cNvSpPr/>
          <p:nvPr/>
        </p:nvSpPr>
        <p:spPr>
          <a:xfrm>
            <a:off x="640080" y="4937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「うちの子は、どこから見ればいいのか」</a:t>
            </a:r>
            <a:endParaRPr lang="en-US" sz="3200" dirty="0"/>
          </a:p>
        </p:txBody>
      </p:sp>
      <p:sp>
        <p:nvSpPr>
          <p:cNvPr id="387" name="Text 385"/>
          <p:cNvSpPr/>
          <p:nvPr/>
        </p:nvSpPr>
        <p:spPr>
          <a:xfrm>
            <a:off x="640080" y="5806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進路コンパスは、その一歩目をつくります。答えを出す道具ではなく、考え始めるための出発点です。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3つの質問に答えるだけで、はじめの数校が出る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n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2457450" cy="502920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4297680" y="160020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5" name="Text 2"/>
          <p:cNvSpPr/>
          <p:nvPr/>
        </p:nvSpPr>
        <p:spPr>
          <a:xfrm>
            <a:off x="429768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74920" y="156362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最寄り駅と、通えそうな時間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5074920" y="202082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住所は聞きません。「練馬駅から45分以内」だけで始められます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97680" y="301752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9" name="Text 6"/>
          <p:cNvSpPr/>
          <p:nvPr/>
        </p:nvSpPr>
        <p:spPr>
          <a:xfrm>
            <a:off x="42976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074920" y="298094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成績の目安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074920" y="343814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内申は5教科と実技を分けて聞き、1020点満点の見込みを一緒に計算。「まだ分からない」でも先へ進めます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297680" y="4434840"/>
            <a:ext cx="566928" cy="566928"/>
          </a:xfrm>
          <a:prstGeom prst="ellipse">
            <a:avLst/>
          </a:prstGeom>
          <a:solidFill>
            <a:srgbClr val="33527E"/>
          </a:solidFill>
          <a:ln/>
        </p:spPr>
      </p:sp>
      <p:sp>
        <p:nvSpPr>
          <p:cNvPr id="13" name="Text 10"/>
          <p:cNvSpPr/>
          <p:nvPr/>
        </p:nvSpPr>
        <p:spPr>
          <a:xfrm>
            <a:off x="429768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074920" y="4398264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希望と、いちばん大事にしたいこと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5074920" y="485546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「吹奏楽をやりたい」「制服がない学校がいい」を自由な言葉で。最後に並べ方の軸を1つ選びます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7492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分からない項目は飛ばせます。入り口で立ち止まらせないための設計です。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出すのは順位ではなく、方角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417320"/>
            <a:ext cx="5618480" cy="361188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788920"/>
            <a:ext cx="1139363" cy="23317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640080" y="1965960"/>
            <a:ext cx="141671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2"/>
          <p:cNvSpPr/>
          <p:nvPr/>
        </p:nvSpPr>
        <p:spPr>
          <a:xfrm>
            <a:off x="640080" y="1965960"/>
            <a:ext cx="1416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安全圏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2056790" y="1965960"/>
            <a:ext cx="2048256" cy="4572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Text 4"/>
          <p:cNvSpPr/>
          <p:nvPr/>
        </p:nvSpPr>
        <p:spPr>
          <a:xfrm>
            <a:off x="2056790" y="1965960"/>
            <a:ext cx="204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適正圏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105046" y="1965960"/>
            <a:ext cx="1655674" cy="457200"/>
          </a:xfrm>
          <a:prstGeom prst="rect">
            <a:avLst/>
          </a:prstGeom>
          <a:solidFill>
            <a:srgbClr val="C45000"/>
          </a:solidFill>
          <a:ln/>
        </p:spPr>
      </p:sp>
      <p:sp>
        <p:nvSpPr>
          <p:cNvPr id="10" name="Text 6"/>
          <p:cNvSpPr/>
          <p:nvPr/>
        </p:nvSpPr>
        <p:spPr>
          <a:xfrm>
            <a:off x="4105046" y="1965960"/>
            <a:ext cx="16556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挑戦圏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411224" y="1627632"/>
            <a:ext cx="164592" cy="164592"/>
          </a:xfrm>
          <a:prstGeom prst="ellipse">
            <a:avLst/>
          </a:prstGeom>
          <a:solidFill>
            <a:srgbClr val="2E7D3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44880" y="1316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練馬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203448" y="1627632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353056" y="1316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北園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322930" y="1627632"/>
            <a:ext cx="164592" cy="164592"/>
          </a:xfrm>
          <a:prstGeom prst="ellipse">
            <a:avLst/>
          </a:prstGeom>
          <a:solidFill>
            <a:srgbClr val="0D47A1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240634" y="1316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竹早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166360" y="1627632"/>
            <a:ext cx="164592" cy="164592"/>
          </a:xfrm>
          <a:prstGeom prst="ellipse">
            <a:avLst/>
          </a:prstGeom>
          <a:solidFill>
            <a:srgbClr val="C4500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0016" y="1316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3080918" y="1572768"/>
            <a:ext cx="0" cy="960120"/>
          </a:xfrm>
          <a:prstGeom prst="line">
            <a:avLst/>
          </a:prstGeom>
          <a:noFill/>
          <a:ln w="22860">
            <a:solidFill>
              <a:srgbClr val="A87F2F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 rot="10800000">
            <a:off x="2980334" y="2487168"/>
            <a:ext cx="201168" cy="146304"/>
          </a:xfrm>
          <a:prstGeom prst="triangle">
            <a:avLst/>
          </a:prstGeom>
          <a:solidFill>
            <a:srgbClr val="A87F2F"/>
          </a:solidFill>
          <a:ln/>
        </p:spPr>
      </p:sp>
      <p:sp>
        <p:nvSpPr>
          <p:cNvPr id="21" name="Text 17"/>
          <p:cNvSpPr/>
          <p:nvPr/>
        </p:nvSpPr>
        <p:spPr>
          <a:xfrm>
            <a:off x="1800758" y="2651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お子さんの見込み 793点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40080" y="294436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7A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← 合格の目安点が低い　　　　　　　　　　　　　　高い →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40080" y="35204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家庭ごとに、北が変わる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近さ・進学・いま届きそう——大事にしたいことで並び順が変わります。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640080" y="4526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点数で測れない学校も、落とさない
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高専・定時制は「測り方が違う」と書いて候補に残します。</a:t>
            </a:r>
            <a:endParaRPr lang="en-US" sz="1700" dirty="0"/>
          </a:p>
        </p:txBody>
      </p:sp>
      <p:sp>
        <p:nvSpPr>
          <p:cNvPr id="25" name="Text 21"/>
          <p:cNvSpPr/>
          <p:nvPr/>
        </p:nvSpPr>
        <p:spPr>
          <a:xfrm>
            <a:off x="640080" y="56235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決めるのは家庭です。ここは入り口なので、順位はつけません。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気になった数校を、持ち出せる1枚に</a:t>
            </a:r>
            <a:endParaRPr lang="en-US" sz="3200" dirty="0"/>
          </a:p>
        </p:txBody>
      </p:sp>
      <p:pic>
        <p:nvPicPr>
          <p:cNvPr id="3" name="Image 0" descr="/tmp/claude-0/-home-user-knowledge-base/ce7faca9-342a-5cd4-886e-c73f2ae459cd/scratchpad/deck/d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049520" cy="32461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pic>
        <p:nvPicPr>
          <p:cNvPr id="4" name="Image 1" descr="/tmp/claude-0/-home-user-knowledge-base/ce7faca9-342a-5cd4-886e-c73f2ae459cd/scratchpad/deck/n_shee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1661976" cy="1417320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1A2333">
                <a:alpha val="35000"/>
              </a:srgbClr>
            </a:outerShdw>
          </a:effectLst>
        </p:spPr>
      </p:pic>
      <p:sp>
        <p:nvSpPr>
          <p:cNvPr id="5" name="Shape 1"/>
          <p:cNvSpPr/>
          <p:nvPr/>
        </p:nvSpPr>
        <p:spPr>
          <a:xfrm>
            <a:off x="5532120" y="17556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6" name="Text 2"/>
          <p:cNvSpPr/>
          <p:nvPr/>
        </p:nvSpPr>
        <p:spPr>
          <a:xfrm>
            <a:off x="5852160" y="16093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自宅の最寄駅を起点にした地図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5852160" y="20482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気になる学校を同じ縮尺の1枚に。家からどの方角に、どれだけ離れているかが分かります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532120" y="31272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9" name="Text 5"/>
          <p:cNvSpPr/>
          <p:nvPr/>
        </p:nvSpPr>
        <p:spPr>
          <a:xfrm>
            <a:off x="5852160" y="29809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部の実績・制服・倍率5年推移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852160" y="34198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公式記録から集めた部の実績や、本人が気にする制服も同じ紙の上に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532120" y="4498848"/>
            <a:ext cx="146304" cy="146304"/>
          </a:xfrm>
          <a:prstGeom prst="ellipse">
            <a:avLst/>
          </a:prstGeom>
          <a:solidFill>
            <a:srgbClr val="A87F2F"/>
          </a:solidFill>
          <a:ln/>
        </p:spPr>
      </p:sp>
      <p:sp>
        <p:nvSpPr>
          <p:cNvPr id="12" name="Text 8"/>
          <p:cNvSpPr/>
          <p:nvPr/>
        </p:nvSpPr>
        <p:spPr>
          <a:xfrm>
            <a:off x="5852160" y="4352544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A4で印刷できる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852160" y="479145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学校説明会や見学に持っていき、家族で話すための紙になります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852160" y="5943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画面の中で完結させません。入り口の次は、実際に学校を見に行く番です。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9つの公開データを、ひとつの判断に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学校一覧・学科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38912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028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応募倍率 R4〜R8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9028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39328" y="1490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中学校卒業者の進路状況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39328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進学指導重点校等の指定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東京都教育委員会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028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部活 約5,000件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9028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237744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450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制服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39328" y="2788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各校公式サイト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運動部の実績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4124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東京都高体連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8912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硬式野球・吹奏楽・美術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9028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都高野連・都吹連・国際美術展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38160" y="3337560"/>
            <a:ext cx="3429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D7DD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9328" y="34107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 10.5万通り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37490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station_database（CC BY-SA 4.0）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PDF・HTML・表形式でバラバラだったものを、ひとつの画面に集めました。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すべての表示に出典を付けています。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気になった学校は、次に一次情報へ進めます。ここは入り口なので、行き止まりにしません。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個人情報は集めません。</a:t>
            </a:r>
            <a:pPr indent="0" marL="0">
              <a:buNone/>
            </a:pPr>
            <a:r>
              <a:rPr lang="en-US" sz="1400" dirty="0">
                <a:solidFill>
                  <a:srgbClr val="5C6B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大会実績は部の実績として扱い、生徒の氏名・学年・記録は収集の時点で読み取りません。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7F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出典を出せないデータは載せない ——  開発中ずっと守ったルールです。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4846320"/>
            <a:ext cx="3657600" cy="36576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61904" y="5358384"/>
            <a:ext cx="2633472" cy="2633472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5760720"/>
            <a:ext cx="1828800" cy="1828800"/>
          </a:xfrm>
          <a:prstGeom prst="ellipse">
            <a:avLst/>
          </a:prstGeom>
          <a:solidFill>
            <a:srgbClr val="0B101C">
              <a:alpha val="0"/>
            </a:srgbClr>
          </a:solidFill>
          <a:ln w="12700">
            <a:solidFill>
              <a:srgbClr val="C9A85C">
                <a:alpha val="1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チームと、これから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西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9611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企画・データ整備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9611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塾で保護者と面談している立場から、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必要な情報と伝え方を決めています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寒河江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4515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推薦ロジック・API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圏の判定と重視軸、Cloudflare上の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検索APIを担当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429000" cy="1965960"/>
          </a:xfrm>
          <a:prstGeom prst="roundRect">
            <a:avLst>
              <a:gd name="adj" fmla="val 5581"/>
            </a:avLst>
          </a:prstGeom>
          <a:solidFill>
            <a:srgbClr val="141B2A"/>
          </a:solidFill>
          <a:ln w="12700">
            <a:solidFill>
              <a:srgbClr val="2B36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94192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安田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94192" y="20299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UI・画面設計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94192" y="24231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保護者が迷わない画面と、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持ち出せるシートの設計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デモは依存のない単一HTML（どの端末でも確実に開く）。検索APIは Cloudflare Workers + D1。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通学時間は駅間グラフから10.5万通りを事前計算し、急行運転で補正。回帰テスト29項目で品質を保っています。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720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F5F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続け方　</a:t>
            </a:r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データ更新はスクリプトとGitHub Actionsで自動化済み。年1回の入試制度の改定に少人数で追随できます。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3A1B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サーバーレス構成のため運用費は月数百円規模。次は私立高校への対応、口コミ・校風、やさしい日本語と多言語へ。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8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迷子にならない進路選びを、東京のすべての家庭に。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進路コンパス</dc:title>
  <dc:subject>PptxGenJS Presentation</dc:subject>
  <dc:creator>Team WINS</dc:creator>
  <cp:lastModifiedBy>Team WINS</cp:lastModifiedBy>
  <cp:revision>1</cp:revision>
  <dcterms:created xsi:type="dcterms:W3CDTF">2026-08-23T04:29:15Z</dcterms:created>
  <dcterms:modified xsi:type="dcterms:W3CDTF">2026-08-23T04:29:15Z</dcterms:modified>
</cp:coreProperties>
</file>