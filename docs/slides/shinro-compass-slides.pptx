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1463040"/>
            <a:ext cx="4937760" cy="4937760"/>
          </a:xfrm>
          <a:prstGeom prst="ellipse">
            <a:avLst/>
          </a:prstGeom>
          <a:solidFill>
            <a:srgbClr val="0B101C">
              <a:alpha val="0"/>
            </a:srgbClr>
          </a:solidFill>
          <a:ln w="12700">
            <a:solidFill>
              <a:srgbClr val="C9A85C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9446" y="-771754"/>
            <a:ext cx="3555187" cy="3555187"/>
          </a:xfrm>
          <a:prstGeom prst="ellipse">
            <a:avLst/>
          </a:prstGeom>
          <a:solidFill>
            <a:srgbClr val="0B101C">
              <a:alpha val="0"/>
            </a:srgbClr>
          </a:solidFill>
          <a:ln w="12700">
            <a:solidFill>
              <a:srgbClr val="C9A85C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-228600"/>
            <a:ext cx="2468880" cy="2468880"/>
          </a:xfrm>
          <a:prstGeom prst="ellipse">
            <a:avLst/>
          </a:prstGeom>
          <a:solidFill>
            <a:srgbClr val="0B101C">
              <a:alpha val="0"/>
            </a:srgbClr>
          </a:solidFill>
          <a:ln w="12700">
            <a:solidFill>
              <a:srgbClr val="C9A85C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4480560"/>
            <a:ext cx="3474720" cy="3474720"/>
          </a:xfrm>
          <a:prstGeom prst="ellipse">
            <a:avLst/>
          </a:prstGeom>
          <a:solidFill>
            <a:srgbClr val="0B101C">
              <a:alpha val="0"/>
            </a:srgbClr>
          </a:solidFill>
          <a:ln w="12700">
            <a:solidFill>
              <a:srgbClr val="C9A85C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1" y="4967021"/>
            <a:ext cx="2501798" cy="2501798"/>
          </a:xfrm>
          <a:prstGeom prst="ellipse">
            <a:avLst/>
          </a:prstGeom>
          <a:solidFill>
            <a:srgbClr val="0B101C">
              <a:alpha val="0"/>
            </a:srgbClr>
          </a:solidFill>
          <a:ln w="12700">
            <a:solidFill>
              <a:srgbClr val="C9A85C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5349240"/>
            <a:ext cx="1737360" cy="1737360"/>
          </a:xfrm>
          <a:prstGeom prst="ellipse">
            <a:avLst/>
          </a:prstGeom>
          <a:solidFill>
            <a:srgbClr val="0B101C">
              <a:alpha val="0"/>
            </a:srgbClr>
          </a:solidFill>
          <a:ln w="12700">
            <a:solidFill>
              <a:srgbClr val="C9A85C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10428" y="1188720"/>
            <a:ext cx="768096" cy="768096"/>
          </a:xfrm>
          <a:prstGeom prst="ellipse">
            <a:avLst/>
          </a:prstGeom>
          <a:solidFill>
            <a:srgbClr val="0B101C">
              <a:alpha val="0"/>
            </a:srgbClr>
          </a:solidFill>
          <a:ln w="25400">
            <a:solidFill>
              <a:srgbClr val="C9A8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0428" y="11887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0" y="2240280"/>
            <a:ext cx="12188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2F5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進路コンパス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0" y="3401568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8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都立高校選びの、はじめの一歩を。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0" y="4059936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7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塾に通っていなくても、ここから始められる。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0" y="56235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5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Team WINS</a:t>
            </a:r>
            <a:pPr algn="ctr" indent="0" marL="0">
              <a:buNone/>
            </a:pPr>
            <a:r>
              <a:rPr lang="en-US" sz="1400" dirty="0">
                <a:solidFill>
                  <a:srgbClr val="8B97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西 ・ 寒河江 ・ 安田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7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都知事杯オープンデータ・ハッカソン2026 サービス開発部門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どこから見ればいいか、分からない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B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都立高校は189校。この中から、わが子に合う数校を選びます。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6868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5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塾に通う家庭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7" name="Shape 5"/>
          <p:cNvSpPr/>
          <p:nvPr/>
        </p:nvSpPr>
        <p:spPr>
          <a:xfrm>
            <a:off x="1216152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8" name="Shape 6"/>
          <p:cNvSpPr/>
          <p:nvPr/>
        </p:nvSpPr>
        <p:spPr>
          <a:xfrm>
            <a:off x="1389888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9" name="Shape 7"/>
          <p:cNvSpPr/>
          <p:nvPr/>
        </p:nvSpPr>
        <p:spPr>
          <a:xfrm>
            <a:off x="1563624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0" name="Shape 8"/>
          <p:cNvSpPr/>
          <p:nvPr/>
        </p:nvSpPr>
        <p:spPr>
          <a:xfrm>
            <a:off x="1737360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1" name="Shape 9"/>
          <p:cNvSpPr/>
          <p:nvPr/>
        </p:nvSpPr>
        <p:spPr>
          <a:xfrm>
            <a:off x="1911096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2" name="Shape 10"/>
          <p:cNvSpPr/>
          <p:nvPr/>
        </p:nvSpPr>
        <p:spPr>
          <a:xfrm>
            <a:off x="2084832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3" name="Shape 11"/>
          <p:cNvSpPr/>
          <p:nvPr/>
        </p:nvSpPr>
        <p:spPr>
          <a:xfrm>
            <a:off x="2258568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32304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5" name="Shape 13"/>
          <p:cNvSpPr/>
          <p:nvPr/>
        </p:nvSpPr>
        <p:spPr>
          <a:xfrm>
            <a:off x="2606040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6" name="Shape 14"/>
          <p:cNvSpPr/>
          <p:nvPr/>
        </p:nvSpPr>
        <p:spPr>
          <a:xfrm>
            <a:off x="2779776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7" name="Shape 15"/>
          <p:cNvSpPr/>
          <p:nvPr/>
        </p:nvSpPr>
        <p:spPr>
          <a:xfrm>
            <a:off x="2953512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8" name="Shape 16"/>
          <p:cNvSpPr/>
          <p:nvPr/>
        </p:nvSpPr>
        <p:spPr>
          <a:xfrm>
            <a:off x="3127248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9" name="Shape 17"/>
          <p:cNvSpPr/>
          <p:nvPr/>
        </p:nvSpPr>
        <p:spPr>
          <a:xfrm>
            <a:off x="3300984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0" name="Shape 18"/>
          <p:cNvSpPr/>
          <p:nvPr/>
        </p:nvSpPr>
        <p:spPr>
          <a:xfrm>
            <a:off x="3474720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1" name="Shape 19"/>
          <p:cNvSpPr/>
          <p:nvPr/>
        </p:nvSpPr>
        <p:spPr>
          <a:xfrm>
            <a:off x="3648456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2" name="Shape 20"/>
          <p:cNvSpPr/>
          <p:nvPr/>
        </p:nvSpPr>
        <p:spPr>
          <a:xfrm>
            <a:off x="3822192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3" name="Shape 21"/>
          <p:cNvSpPr/>
          <p:nvPr/>
        </p:nvSpPr>
        <p:spPr>
          <a:xfrm>
            <a:off x="3995928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4" name="Shape 22"/>
          <p:cNvSpPr/>
          <p:nvPr/>
        </p:nvSpPr>
        <p:spPr>
          <a:xfrm>
            <a:off x="4169664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5" name="Shape 23"/>
          <p:cNvSpPr/>
          <p:nvPr/>
        </p:nvSpPr>
        <p:spPr>
          <a:xfrm>
            <a:off x="4343400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6" name="Shape 24"/>
          <p:cNvSpPr/>
          <p:nvPr/>
        </p:nvSpPr>
        <p:spPr>
          <a:xfrm>
            <a:off x="868680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7" name="Shape 25"/>
          <p:cNvSpPr/>
          <p:nvPr/>
        </p:nvSpPr>
        <p:spPr>
          <a:xfrm>
            <a:off x="1042416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8" name="Shape 26"/>
          <p:cNvSpPr/>
          <p:nvPr/>
        </p:nvSpPr>
        <p:spPr>
          <a:xfrm>
            <a:off x="1216152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89888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0" name="Shape 28"/>
          <p:cNvSpPr/>
          <p:nvPr/>
        </p:nvSpPr>
        <p:spPr>
          <a:xfrm>
            <a:off x="1563624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1" name="Shape 29"/>
          <p:cNvSpPr/>
          <p:nvPr/>
        </p:nvSpPr>
        <p:spPr>
          <a:xfrm>
            <a:off x="1705356" y="2537460"/>
            <a:ext cx="155448" cy="155448"/>
          </a:xfrm>
          <a:prstGeom prst="ellipse">
            <a:avLst/>
          </a:prstGeom>
          <a:solidFill>
            <a:srgbClr val="A87F2F"/>
          </a:solidFill>
          <a:ln/>
        </p:spPr>
      </p:sp>
      <p:sp>
        <p:nvSpPr>
          <p:cNvPr id="32" name="Shape 30"/>
          <p:cNvSpPr/>
          <p:nvPr/>
        </p:nvSpPr>
        <p:spPr>
          <a:xfrm>
            <a:off x="1911096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3" name="Shape 31"/>
          <p:cNvSpPr/>
          <p:nvPr/>
        </p:nvSpPr>
        <p:spPr>
          <a:xfrm>
            <a:off x="2084832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4" name="Shape 32"/>
          <p:cNvSpPr/>
          <p:nvPr/>
        </p:nvSpPr>
        <p:spPr>
          <a:xfrm>
            <a:off x="2258568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5" name="Shape 33"/>
          <p:cNvSpPr/>
          <p:nvPr/>
        </p:nvSpPr>
        <p:spPr>
          <a:xfrm>
            <a:off x="2432304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6" name="Shape 34"/>
          <p:cNvSpPr/>
          <p:nvPr/>
        </p:nvSpPr>
        <p:spPr>
          <a:xfrm>
            <a:off x="2606040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7" name="Shape 35"/>
          <p:cNvSpPr/>
          <p:nvPr/>
        </p:nvSpPr>
        <p:spPr>
          <a:xfrm>
            <a:off x="2779776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8" name="Shape 36"/>
          <p:cNvSpPr/>
          <p:nvPr/>
        </p:nvSpPr>
        <p:spPr>
          <a:xfrm>
            <a:off x="2953512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9" name="Shape 37"/>
          <p:cNvSpPr/>
          <p:nvPr/>
        </p:nvSpPr>
        <p:spPr>
          <a:xfrm>
            <a:off x="3127248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40" name="Shape 38"/>
          <p:cNvSpPr/>
          <p:nvPr/>
        </p:nvSpPr>
        <p:spPr>
          <a:xfrm>
            <a:off x="3300984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41" name="Shape 39"/>
          <p:cNvSpPr/>
          <p:nvPr/>
        </p:nvSpPr>
        <p:spPr>
          <a:xfrm>
            <a:off x="3474720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42" name="Shape 40"/>
          <p:cNvSpPr/>
          <p:nvPr/>
        </p:nvSpPr>
        <p:spPr>
          <a:xfrm>
            <a:off x="3648456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43" name="Shape 41"/>
          <p:cNvSpPr/>
          <p:nvPr/>
        </p:nvSpPr>
        <p:spPr>
          <a:xfrm>
            <a:off x="3822192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44" name="Shape 42"/>
          <p:cNvSpPr/>
          <p:nvPr/>
        </p:nvSpPr>
        <p:spPr>
          <a:xfrm>
            <a:off x="3995928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45" name="Shape 43"/>
          <p:cNvSpPr/>
          <p:nvPr/>
        </p:nvSpPr>
        <p:spPr>
          <a:xfrm>
            <a:off x="4169664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46" name="Shape 44"/>
          <p:cNvSpPr/>
          <p:nvPr/>
        </p:nvSpPr>
        <p:spPr>
          <a:xfrm>
            <a:off x="4343400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47" name="Shape 45"/>
          <p:cNvSpPr/>
          <p:nvPr/>
        </p:nvSpPr>
        <p:spPr>
          <a:xfrm>
            <a:off x="868680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48" name="Shape 46"/>
          <p:cNvSpPr/>
          <p:nvPr/>
        </p:nvSpPr>
        <p:spPr>
          <a:xfrm>
            <a:off x="1042416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49" name="Shape 47"/>
          <p:cNvSpPr/>
          <p:nvPr/>
        </p:nvSpPr>
        <p:spPr>
          <a:xfrm>
            <a:off x="1216152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50" name="Shape 48"/>
          <p:cNvSpPr/>
          <p:nvPr/>
        </p:nvSpPr>
        <p:spPr>
          <a:xfrm>
            <a:off x="1389888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51" name="Shape 49"/>
          <p:cNvSpPr/>
          <p:nvPr/>
        </p:nvSpPr>
        <p:spPr>
          <a:xfrm>
            <a:off x="1563624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52" name="Shape 50"/>
          <p:cNvSpPr/>
          <p:nvPr/>
        </p:nvSpPr>
        <p:spPr>
          <a:xfrm>
            <a:off x="1737360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53" name="Shape 51"/>
          <p:cNvSpPr/>
          <p:nvPr/>
        </p:nvSpPr>
        <p:spPr>
          <a:xfrm>
            <a:off x="1911096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54" name="Shape 52"/>
          <p:cNvSpPr/>
          <p:nvPr/>
        </p:nvSpPr>
        <p:spPr>
          <a:xfrm>
            <a:off x="2084832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55" name="Shape 53"/>
          <p:cNvSpPr/>
          <p:nvPr/>
        </p:nvSpPr>
        <p:spPr>
          <a:xfrm>
            <a:off x="2258568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56" name="Shape 54"/>
          <p:cNvSpPr/>
          <p:nvPr/>
        </p:nvSpPr>
        <p:spPr>
          <a:xfrm>
            <a:off x="2432304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57" name="Shape 55"/>
          <p:cNvSpPr/>
          <p:nvPr/>
        </p:nvSpPr>
        <p:spPr>
          <a:xfrm>
            <a:off x="2606040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58" name="Shape 56"/>
          <p:cNvSpPr/>
          <p:nvPr/>
        </p:nvSpPr>
        <p:spPr>
          <a:xfrm>
            <a:off x="2779776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59" name="Shape 57"/>
          <p:cNvSpPr/>
          <p:nvPr/>
        </p:nvSpPr>
        <p:spPr>
          <a:xfrm>
            <a:off x="2953512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60" name="Shape 58"/>
          <p:cNvSpPr/>
          <p:nvPr/>
        </p:nvSpPr>
        <p:spPr>
          <a:xfrm>
            <a:off x="3127248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61" name="Shape 59"/>
          <p:cNvSpPr/>
          <p:nvPr/>
        </p:nvSpPr>
        <p:spPr>
          <a:xfrm>
            <a:off x="3300984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62" name="Shape 60"/>
          <p:cNvSpPr/>
          <p:nvPr/>
        </p:nvSpPr>
        <p:spPr>
          <a:xfrm>
            <a:off x="3474720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63" name="Shape 61"/>
          <p:cNvSpPr/>
          <p:nvPr/>
        </p:nvSpPr>
        <p:spPr>
          <a:xfrm>
            <a:off x="3648456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64" name="Shape 62"/>
          <p:cNvSpPr/>
          <p:nvPr/>
        </p:nvSpPr>
        <p:spPr>
          <a:xfrm>
            <a:off x="3822192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65" name="Shape 63"/>
          <p:cNvSpPr/>
          <p:nvPr/>
        </p:nvSpPr>
        <p:spPr>
          <a:xfrm>
            <a:off x="3995928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66" name="Shape 64"/>
          <p:cNvSpPr/>
          <p:nvPr/>
        </p:nvSpPr>
        <p:spPr>
          <a:xfrm>
            <a:off x="4169664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67" name="Shape 65"/>
          <p:cNvSpPr/>
          <p:nvPr/>
        </p:nvSpPr>
        <p:spPr>
          <a:xfrm>
            <a:off x="4343400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68" name="Shape 66"/>
          <p:cNvSpPr/>
          <p:nvPr/>
        </p:nvSpPr>
        <p:spPr>
          <a:xfrm>
            <a:off x="868680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69" name="Shape 67"/>
          <p:cNvSpPr/>
          <p:nvPr/>
        </p:nvSpPr>
        <p:spPr>
          <a:xfrm>
            <a:off x="1042416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70" name="Shape 68"/>
          <p:cNvSpPr/>
          <p:nvPr/>
        </p:nvSpPr>
        <p:spPr>
          <a:xfrm>
            <a:off x="1216152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71" name="Shape 69"/>
          <p:cNvSpPr/>
          <p:nvPr/>
        </p:nvSpPr>
        <p:spPr>
          <a:xfrm>
            <a:off x="1389888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72" name="Shape 70"/>
          <p:cNvSpPr/>
          <p:nvPr/>
        </p:nvSpPr>
        <p:spPr>
          <a:xfrm>
            <a:off x="1563624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73" name="Shape 71"/>
          <p:cNvSpPr/>
          <p:nvPr/>
        </p:nvSpPr>
        <p:spPr>
          <a:xfrm>
            <a:off x="1705356" y="2884932"/>
            <a:ext cx="155448" cy="155448"/>
          </a:xfrm>
          <a:prstGeom prst="ellipse">
            <a:avLst/>
          </a:prstGeom>
          <a:solidFill>
            <a:srgbClr val="A87F2F"/>
          </a:solidFill>
          <a:ln/>
        </p:spPr>
      </p:sp>
      <p:sp>
        <p:nvSpPr>
          <p:cNvPr id="74" name="Shape 72"/>
          <p:cNvSpPr/>
          <p:nvPr/>
        </p:nvSpPr>
        <p:spPr>
          <a:xfrm>
            <a:off x="1911096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75" name="Shape 73"/>
          <p:cNvSpPr/>
          <p:nvPr/>
        </p:nvSpPr>
        <p:spPr>
          <a:xfrm>
            <a:off x="2084832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76" name="Shape 74"/>
          <p:cNvSpPr/>
          <p:nvPr/>
        </p:nvSpPr>
        <p:spPr>
          <a:xfrm>
            <a:off x="2258568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77" name="Shape 75"/>
          <p:cNvSpPr/>
          <p:nvPr/>
        </p:nvSpPr>
        <p:spPr>
          <a:xfrm>
            <a:off x="2432304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78" name="Shape 76"/>
          <p:cNvSpPr/>
          <p:nvPr/>
        </p:nvSpPr>
        <p:spPr>
          <a:xfrm>
            <a:off x="2606040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79" name="Shape 77"/>
          <p:cNvSpPr/>
          <p:nvPr/>
        </p:nvSpPr>
        <p:spPr>
          <a:xfrm>
            <a:off x="2779776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80" name="Shape 78"/>
          <p:cNvSpPr/>
          <p:nvPr/>
        </p:nvSpPr>
        <p:spPr>
          <a:xfrm>
            <a:off x="2953512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81" name="Shape 79"/>
          <p:cNvSpPr/>
          <p:nvPr/>
        </p:nvSpPr>
        <p:spPr>
          <a:xfrm>
            <a:off x="3127248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82" name="Shape 80"/>
          <p:cNvSpPr/>
          <p:nvPr/>
        </p:nvSpPr>
        <p:spPr>
          <a:xfrm>
            <a:off x="3300984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83" name="Shape 81"/>
          <p:cNvSpPr/>
          <p:nvPr/>
        </p:nvSpPr>
        <p:spPr>
          <a:xfrm>
            <a:off x="3474720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84" name="Shape 82"/>
          <p:cNvSpPr/>
          <p:nvPr/>
        </p:nvSpPr>
        <p:spPr>
          <a:xfrm>
            <a:off x="3648456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85" name="Shape 83"/>
          <p:cNvSpPr/>
          <p:nvPr/>
        </p:nvSpPr>
        <p:spPr>
          <a:xfrm>
            <a:off x="3822192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86" name="Shape 84"/>
          <p:cNvSpPr/>
          <p:nvPr/>
        </p:nvSpPr>
        <p:spPr>
          <a:xfrm>
            <a:off x="3995928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87" name="Shape 85"/>
          <p:cNvSpPr/>
          <p:nvPr/>
        </p:nvSpPr>
        <p:spPr>
          <a:xfrm>
            <a:off x="4169664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89" name="Shape 87"/>
          <p:cNvSpPr/>
          <p:nvPr/>
        </p:nvSpPr>
        <p:spPr>
          <a:xfrm>
            <a:off x="868680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90" name="Shape 88"/>
          <p:cNvSpPr/>
          <p:nvPr/>
        </p:nvSpPr>
        <p:spPr>
          <a:xfrm>
            <a:off x="1042416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91" name="Shape 89"/>
          <p:cNvSpPr/>
          <p:nvPr/>
        </p:nvSpPr>
        <p:spPr>
          <a:xfrm>
            <a:off x="1216152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92" name="Shape 90"/>
          <p:cNvSpPr/>
          <p:nvPr/>
        </p:nvSpPr>
        <p:spPr>
          <a:xfrm>
            <a:off x="1389888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93" name="Shape 91"/>
          <p:cNvSpPr/>
          <p:nvPr/>
        </p:nvSpPr>
        <p:spPr>
          <a:xfrm>
            <a:off x="1563624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94" name="Shape 92"/>
          <p:cNvSpPr/>
          <p:nvPr/>
        </p:nvSpPr>
        <p:spPr>
          <a:xfrm>
            <a:off x="1737360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95" name="Shape 93"/>
          <p:cNvSpPr/>
          <p:nvPr/>
        </p:nvSpPr>
        <p:spPr>
          <a:xfrm>
            <a:off x="1911096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96" name="Shape 94"/>
          <p:cNvSpPr/>
          <p:nvPr/>
        </p:nvSpPr>
        <p:spPr>
          <a:xfrm>
            <a:off x="2084832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97" name="Shape 95"/>
          <p:cNvSpPr/>
          <p:nvPr/>
        </p:nvSpPr>
        <p:spPr>
          <a:xfrm>
            <a:off x="2258568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98" name="Shape 96"/>
          <p:cNvSpPr/>
          <p:nvPr/>
        </p:nvSpPr>
        <p:spPr>
          <a:xfrm>
            <a:off x="2432304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99" name="Shape 97"/>
          <p:cNvSpPr/>
          <p:nvPr/>
        </p:nvSpPr>
        <p:spPr>
          <a:xfrm>
            <a:off x="2606040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00" name="Shape 98"/>
          <p:cNvSpPr/>
          <p:nvPr/>
        </p:nvSpPr>
        <p:spPr>
          <a:xfrm>
            <a:off x="2779776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01" name="Shape 99"/>
          <p:cNvSpPr/>
          <p:nvPr/>
        </p:nvSpPr>
        <p:spPr>
          <a:xfrm>
            <a:off x="2953512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3127248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3300984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3474720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3648456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3822192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3995928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4169664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4343400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868680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042416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216152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389888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563624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737360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911096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2084832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2258568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2432304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2574036" y="3232404"/>
            <a:ext cx="155448" cy="155448"/>
          </a:xfrm>
          <a:prstGeom prst="ellipse">
            <a:avLst/>
          </a:prstGeom>
          <a:solidFill>
            <a:srgbClr val="A87F2F"/>
          </a:solidFill>
          <a:ln/>
        </p:spPr>
      </p:sp>
      <p:sp>
        <p:nvSpPr>
          <p:cNvPr id="121" name="Shape 119"/>
          <p:cNvSpPr/>
          <p:nvPr/>
        </p:nvSpPr>
        <p:spPr>
          <a:xfrm>
            <a:off x="2779776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2953512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3127248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3300984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3474720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3648456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3822192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3995928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4169664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4343400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868680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1042416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216152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389888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1563624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1737360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1911096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2084832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2258568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2432304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2606040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2779776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2953512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3127248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3300984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3474720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3648456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3822192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3995928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4169664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4343400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868680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1042416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1216152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1389888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1563624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1705356" y="3579876"/>
            <a:ext cx="155448" cy="155448"/>
          </a:xfrm>
          <a:prstGeom prst="ellipse">
            <a:avLst/>
          </a:prstGeom>
          <a:solidFill>
            <a:srgbClr val="A87F2F"/>
          </a:solidFill>
          <a:ln/>
        </p:spPr>
      </p:sp>
      <p:sp>
        <p:nvSpPr>
          <p:cNvPr id="158" name="Shape 156"/>
          <p:cNvSpPr/>
          <p:nvPr/>
        </p:nvSpPr>
        <p:spPr>
          <a:xfrm>
            <a:off x="1911096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2084832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2258568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2432304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2606040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2779776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2953512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3127248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3300984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3474720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3648456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3822192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3995928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4169664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4343400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68680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1042416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1216152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1389888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1563624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1737360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1911096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2084832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2258568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82" name="Shape 180"/>
          <p:cNvSpPr/>
          <p:nvPr/>
        </p:nvSpPr>
        <p:spPr>
          <a:xfrm>
            <a:off x="2432304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83" name="Shape 181"/>
          <p:cNvSpPr/>
          <p:nvPr/>
        </p:nvSpPr>
        <p:spPr>
          <a:xfrm>
            <a:off x="2606040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84" name="Shape 182"/>
          <p:cNvSpPr/>
          <p:nvPr/>
        </p:nvSpPr>
        <p:spPr>
          <a:xfrm>
            <a:off x="2779776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85" name="Shape 183"/>
          <p:cNvSpPr/>
          <p:nvPr/>
        </p:nvSpPr>
        <p:spPr>
          <a:xfrm>
            <a:off x="2953512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86" name="Shape 184"/>
          <p:cNvSpPr/>
          <p:nvPr/>
        </p:nvSpPr>
        <p:spPr>
          <a:xfrm>
            <a:off x="3127248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87" name="Shape 185"/>
          <p:cNvSpPr/>
          <p:nvPr/>
        </p:nvSpPr>
        <p:spPr>
          <a:xfrm>
            <a:off x="3300984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88" name="Shape 186"/>
          <p:cNvSpPr/>
          <p:nvPr/>
        </p:nvSpPr>
        <p:spPr>
          <a:xfrm>
            <a:off x="3474720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89" name="Shape 187"/>
          <p:cNvSpPr/>
          <p:nvPr/>
        </p:nvSpPr>
        <p:spPr>
          <a:xfrm>
            <a:off x="3648456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90" name="Shape 188"/>
          <p:cNvSpPr/>
          <p:nvPr/>
        </p:nvSpPr>
        <p:spPr>
          <a:xfrm>
            <a:off x="3822192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91" name="Shape 189"/>
          <p:cNvSpPr/>
          <p:nvPr/>
        </p:nvSpPr>
        <p:spPr>
          <a:xfrm>
            <a:off x="3995928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92" name="Shape 190"/>
          <p:cNvSpPr/>
          <p:nvPr/>
        </p:nvSpPr>
        <p:spPr>
          <a:xfrm>
            <a:off x="4169664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93" name="Shape 191"/>
          <p:cNvSpPr/>
          <p:nvPr/>
        </p:nvSpPr>
        <p:spPr>
          <a:xfrm>
            <a:off x="4343400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94" name="Text 192"/>
          <p:cNvSpPr/>
          <p:nvPr/>
        </p:nvSpPr>
        <p:spPr>
          <a:xfrm>
            <a:off x="868680" y="40690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面談で「この数校から見てみよう」と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C6B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先生が一緒に見当をつけてくれる。</a:t>
            </a:r>
            <a:endParaRPr lang="en-US" sz="1350" dirty="0"/>
          </a:p>
        </p:txBody>
      </p:sp>
      <p:sp>
        <p:nvSpPr>
          <p:cNvPr id="195" name="Text 193"/>
          <p:cNvSpPr/>
          <p:nvPr/>
        </p:nvSpPr>
        <p:spPr>
          <a:xfrm>
            <a:off x="699516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7F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通っていない家庭</a:t>
            </a:r>
            <a:endParaRPr lang="en-US" sz="1800" dirty="0"/>
          </a:p>
        </p:txBody>
      </p:sp>
      <p:sp>
        <p:nvSpPr>
          <p:cNvPr id="196" name="Shape 194"/>
          <p:cNvSpPr/>
          <p:nvPr/>
        </p:nvSpPr>
        <p:spPr>
          <a:xfrm>
            <a:off x="6995160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97" name="Shape 195"/>
          <p:cNvSpPr/>
          <p:nvPr/>
        </p:nvSpPr>
        <p:spPr>
          <a:xfrm>
            <a:off x="7168896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98" name="Shape 196"/>
          <p:cNvSpPr/>
          <p:nvPr/>
        </p:nvSpPr>
        <p:spPr>
          <a:xfrm>
            <a:off x="7342632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199" name="Shape 197"/>
          <p:cNvSpPr/>
          <p:nvPr/>
        </p:nvSpPr>
        <p:spPr>
          <a:xfrm>
            <a:off x="7516368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00" name="Shape 198"/>
          <p:cNvSpPr/>
          <p:nvPr/>
        </p:nvSpPr>
        <p:spPr>
          <a:xfrm>
            <a:off x="7690104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01" name="Shape 199"/>
          <p:cNvSpPr/>
          <p:nvPr/>
        </p:nvSpPr>
        <p:spPr>
          <a:xfrm>
            <a:off x="7863840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02" name="Shape 200"/>
          <p:cNvSpPr/>
          <p:nvPr/>
        </p:nvSpPr>
        <p:spPr>
          <a:xfrm>
            <a:off x="8037576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03" name="Shape 201"/>
          <p:cNvSpPr/>
          <p:nvPr/>
        </p:nvSpPr>
        <p:spPr>
          <a:xfrm>
            <a:off x="8211312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04" name="Shape 202"/>
          <p:cNvSpPr/>
          <p:nvPr/>
        </p:nvSpPr>
        <p:spPr>
          <a:xfrm>
            <a:off x="8385048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05" name="Shape 203"/>
          <p:cNvSpPr/>
          <p:nvPr/>
        </p:nvSpPr>
        <p:spPr>
          <a:xfrm>
            <a:off x="8558784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06" name="Shape 204"/>
          <p:cNvSpPr/>
          <p:nvPr/>
        </p:nvSpPr>
        <p:spPr>
          <a:xfrm>
            <a:off x="8732520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07" name="Shape 205"/>
          <p:cNvSpPr/>
          <p:nvPr/>
        </p:nvSpPr>
        <p:spPr>
          <a:xfrm>
            <a:off x="8906256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08" name="Shape 206"/>
          <p:cNvSpPr/>
          <p:nvPr/>
        </p:nvSpPr>
        <p:spPr>
          <a:xfrm>
            <a:off x="9079992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09" name="Shape 207"/>
          <p:cNvSpPr/>
          <p:nvPr/>
        </p:nvSpPr>
        <p:spPr>
          <a:xfrm>
            <a:off x="9253728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10" name="Shape 208"/>
          <p:cNvSpPr/>
          <p:nvPr/>
        </p:nvSpPr>
        <p:spPr>
          <a:xfrm>
            <a:off x="9427464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11" name="Shape 209"/>
          <p:cNvSpPr/>
          <p:nvPr/>
        </p:nvSpPr>
        <p:spPr>
          <a:xfrm>
            <a:off x="9601200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12" name="Shape 210"/>
          <p:cNvSpPr/>
          <p:nvPr/>
        </p:nvSpPr>
        <p:spPr>
          <a:xfrm>
            <a:off x="9774936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13" name="Shape 211"/>
          <p:cNvSpPr/>
          <p:nvPr/>
        </p:nvSpPr>
        <p:spPr>
          <a:xfrm>
            <a:off x="9948672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14" name="Shape 212"/>
          <p:cNvSpPr/>
          <p:nvPr/>
        </p:nvSpPr>
        <p:spPr>
          <a:xfrm>
            <a:off x="10122408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15" name="Shape 213"/>
          <p:cNvSpPr/>
          <p:nvPr/>
        </p:nvSpPr>
        <p:spPr>
          <a:xfrm>
            <a:off x="10296144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16" name="Shape 214"/>
          <p:cNvSpPr/>
          <p:nvPr/>
        </p:nvSpPr>
        <p:spPr>
          <a:xfrm>
            <a:off x="10469880" y="239572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17" name="Shape 215"/>
          <p:cNvSpPr/>
          <p:nvPr/>
        </p:nvSpPr>
        <p:spPr>
          <a:xfrm>
            <a:off x="6995160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18" name="Shape 216"/>
          <p:cNvSpPr/>
          <p:nvPr/>
        </p:nvSpPr>
        <p:spPr>
          <a:xfrm>
            <a:off x="7168896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19" name="Shape 217"/>
          <p:cNvSpPr/>
          <p:nvPr/>
        </p:nvSpPr>
        <p:spPr>
          <a:xfrm>
            <a:off x="7342632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20" name="Shape 218"/>
          <p:cNvSpPr/>
          <p:nvPr/>
        </p:nvSpPr>
        <p:spPr>
          <a:xfrm>
            <a:off x="7516368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21" name="Shape 219"/>
          <p:cNvSpPr/>
          <p:nvPr/>
        </p:nvSpPr>
        <p:spPr>
          <a:xfrm>
            <a:off x="7690104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22" name="Shape 220"/>
          <p:cNvSpPr/>
          <p:nvPr/>
        </p:nvSpPr>
        <p:spPr>
          <a:xfrm>
            <a:off x="7863840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23" name="Shape 221"/>
          <p:cNvSpPr/>
          <p:nvPr/>
        </p:nvSpPr>
        <p:spPr>
          <a:xfrm>
            <a:off x="8037576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24" name="Shape 222"/>
          <p:cNvSpPr/>
          <p:nvPr/>
        </p:nvSpPr>
        <p:spPr>
          <a:xfrm>
            <a:off x="8211312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25" name="Shape 223"/>
          <p:cNvSpPr/>
          <p:nvPr/>
        </p:nvSpPr>
        <p:spPr>
          <a:xfrm>
            <a:off x="8385048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26" name="Shape 224"/>
          <p:cNvSpPr/>
          <p:nvPr/>
        </p:nvSpPr>
        <p:spPr>
          <a:xfrm>
            <a:off x="8558784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27" name="Shape 225"/>
          <p:cNvSpPr/>
          <p:nvPr/>
        </p:nvSpPr>
        <p:spPr>
          <a:xfrm>
            <a:off x="8732520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28" name="Shape 226"/>
          <p:cNvSpPr/>
          <p:nvPr/>
        </p:nvSpPr>
        <p:spPr>
          <a:xfrm>
            <a:off x="8906256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29" name="Shape 227"/>
          <p:cNvSpPr/>
          <p:nvPr/>
        </p:nvSpPr>
        <p:spPr>
          <a:xfrm>
            <a:off x="9079992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30" name="Shape 228"/>
          <p:cNvSpPr/>
          <p:nvPr/>
        </p:nvSpPr>
        <p:spPr>
          <a:xfrm>
            <a:off x="9253728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31" name="Shape 229"/>
          <p:cNvSpPr/>
          <p:nvPr/>
        </p:nvSpPr>
        <p:spPr>
          <a:xfrm>
            <a:off x="9427464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32" name="Shape 230"/>
          <p:cNvSpPr/>
          <p:nvPr/>
        </p:nvSpPr>
        <p:spPr>
          <a:xfrm>
            <a:off x="9601200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33" name="Shape 231"/>
          <p:cNvSpPr/>
          <p:nvPr/>
        </p:nvSpPr>
        <p:spPr>
          <a:xfrm>
            <a:off x="9774936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34" name="Shape 232"/>
          <p:cNvSpPr/>
          <p:nvPr/>
        </p:nvSpPr>
        <p:spPr>
          <a:xfrm>
            <a:off x="9948672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35" name="Shape 233"/>
          <p:cNvSpPr/>
          <p:nvPr/>
        </p:nvSpPr>
        <p:spPr>
          <a:xfrm>
            <a:off x="10122408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36" name="Shape 234"/>
          <p:cNvSpPr/>
          <p:nvPr/>
        </p:nvSpPr>
        <p:spPr>
          <a:xfrm>
            <a:off x="10296144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37" name="Shape 235"/>
          <p:cNvSpPr/>
          <p:nvPr/>
        </p:nvSpPr>
        <p:spPr>
          <a:xfrm>
            <a:off x="10469880" y="256946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38" name="Shape 236"/>
          <p:cNvSpPr/>
          <p:nvPr/>
        </p:nvSpPr>
        <p:spPr>
          <a:xfrm>
            <a:off x="6995160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39" name="Shape 237"/>
          <p:cNvSpPr/>
          <p:nvPr/>
        </p:nvSpPr>
        <p:spPr>
          <a:xfrm>
            <a:off x="7168896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40" name="Shape 238"/>
          <p:cNvSpPr/>
          <p:nvPr/>
        </p:nvSpPr>
        <p:spPr>
          <a:xfrm>
            <a:off x="7342632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41" name="Shape 239"/>
          <p:cNvSpPr/>
          <p:nvPr/>
        </p:nvSpPr>
        <p:spPr>
          <a:xfrm>
            <a:off x="7516368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42" name="Shape 240"/>
          <p:cNvSpPr/>
          <p:nvPr/>
        </p:nvSpPr>
        <p:spPr>
          <a:xfrm>
            <a:off x="7690104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43" name="Shape 241"/>
          <p:cNvSpPr/>
          <p:nvPr/>
        </p:nvSpPr>
        <p:spPr>
          <a:xfrm>
            <a:off x="7863840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44" name="Shape 242"/>
          <p:cNvSpPr/>
          <p:nvPr/>
        </p:nvSpPr>
        <p:spPr>
          <a:xfrm>
            <a:off x="8037576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45" name="Shape 243"/>
          <p:cNvSpPr/>
          <p:nvPr/>
        </p:nvSpPr>
        <p:spPr>
          <a:xfrm>
            <a:off x="8211312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46" name="Shape 244"/>
          <p:cNvSpPr/>
          <p:nvPr/>
        </p:nvSpPr>
        <p:spPr>
          <a:xfrm>
            <a:off x="8385048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47" name="Shape 245"/>
          <p:cNvSpPr/>
          <p:nvPr/>
        </p:nvSpPr>
        <p:spPr>
          <a:xfrm>
            <a:off x="8558784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48" name="Shape 246"/>
          <p:cNvSpPr/>
          <p:nvPr/>
        </p:nvSpPr>
        <p:spPr>
          <a:xfrm>
            <a:off x="8732520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49" name="Shape 247"/>
          <p:cNvSpPr/>
          <p:nvPr/>
        </p:nvSpPr>
        <p:spPr>
          <a:xfrm>
            <a:off x="8906256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50" name="Shape 248"/>
          <p:cNvSpPr/>
          <p:nvPr/>
        </p:nvSpPr>
        <p:spPr>
          <a:xfrm>
            <a:off x="9079992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51" name="Shape 249"/>
          <p:cNvSpPr/>
          <p:nvPr/>
        </p:nvSpPr>
        <p:spPr>
          <a:xfrm>
            <a:off x="9253728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52" name="Shape 250"/>
          <p:cNvSpPr/>
          <p:nvPr/>
        </p:nvSpPr>
        <p:spPr>
          <a:xfrm>
            <a:off x="9427464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53" name="Shape 251"/>
          <p:cNvSpPr/>
          <p:nvPr/>
        </p:nvSpPr>
        <p:spPr>
          <a:xfrm>
            <a:off x="9601200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54" name="Shape 252"/>
          <p:cNvSpPr/>
          <p:nvPr/>
        </p:nvSpPr>
        <p:spPr>
          <a:xfrm>
            <a:off x="9774936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55" name="Shape 253"/>
          <p:cNvSpPr/>
          <p:nvPr/>
        </p:nvSpPr>
        <p:spPr>
          <a:xfrm>
            <a:off x="9948672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56" name="Shape 254"/>
          <p:cNvSpPr/>
          <p:nvPr/>
        </p:nvSpPr>
        <p:spPr>
          <a:xfrm>
            <a:off x="10122408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57" name="Shape 255"/>
          <p:cNvSpPr/>
          <p:nvPr/>
        </p:nvSpPr>
        <p:spPr>
          <a:xfrm>
            <a:off x="10296144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58" name="Shape 256"/>
          <p:cNvSpPr/>
          <p:nvPr/>
        </p:nvSpPr>
        <p:spPr>
          <a:xfrm>
            <a:off x="10469880" y="274320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59" name="Shape 257"/>
          <p:cNvSpPr/>
          <p:nvPr/>
        </p:nvSpPr>
        <p:spPr>
          <a:xfrm>
            <a:off x="6995160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60" name="Shape 258"/>
          <p:cNvSpPr/>
          <p:nvPr/>
        </p:nvSpPr>
        <p:spPr>
          <a:xfrm>
            <a:off x="7168896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61" name="Shape 259"/>
          <p:cNvSpPr/>
          <p:nvPr/>
        </p:nvSpPr>
        <p:spPr>
          <a:xfrm>
            <a:off x="7342632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62" name="Shape 260"/>
          <p:cNvSpPr/>
          <p:nvPr/>
        </p:nvSpPr>
        <p:spPr>
          <a:xfrm>
            <a:off x="7516368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63" name="Shape 261"/>
          <p:cNvSpPr/>
          <p:nvPr/>
        </p:nvSpPr>
        <p:spPr>
          <a:xfrm>
            <a:off x="7690104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64" name="Shape 262"/>
          <p:cNvSpPr/>
          <p:nvPr/>
        </p:nvSpPr>
        <p:spPr>
          <a:xfrm>
            <a:off x="7863840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65" name="Shape 263"/>
          <p:cNvSpPr/>
          <p:nvPr/>
        </p:nvSpPr>
        <p:spPr>
          <a:xfrm>
            <a:off x="8037576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66" name="Shape 264"/>
          <p:cNvSpPr/>
          <p:nvPr/>
        </p:nvSpPr>
        <p:spPr>
          <a:xfrm>
            <a:off x="8211312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67" name="Shape 265"/>
          <p:cNvSpPr/>
          <p:nvPr/>
        </p:nvSpPr>
        <p:spPr>
          <a:xfrm>
            <a:off x="8385048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68" name="Shape 266"/>
          <p:cNvSpPr/>
          <p:nvPr/>
        </p:nvSpPr>
        <p:spPr>
          <a:xfrm>
            <a:off x="8558784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69" name="Shape 267"/>
          <p:cNvSpPr/>
          <p:nvPr/>
        </p:nvSpPr>
        <p:spPr>
          <a:xfrm>
            <a:off x="8732520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70" name="Shape 268"/>
          <p:cNvSpPr/>
          <p:nvPr/>
        </p:nvSpPr>
        <p:spPr>
          <a:xfrm>
            <a:off x="8906256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71" name="Shape 269"/>
          <p:cNvSpPr/>
          <p:nvPr/>
        </p:nvSpPr>
        <p:spPr>
          <a:xfrm>
            <a:off x="9079992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72" name="Shape 270"/>
          <p:cNvSpPr/>
          <p:nvPr/>
        </p:nvSpPr>
        <p:spPr>
          <a:xfrm>
            <a:off x="9253728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73" name="Shape 271"/>
          <p:cNvSpPr/>
          <p:nvPr/>
        </p:nvSpPr>
        <p:spPr>
          <a:xfrm>
            <a:off x="9427464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74" name="Shape 272"/>
          <p:cNvSpPr/>
          <p:nvPr/>
        </p:nvSpPr>
        <p:spPr>
          <a:xfrm>
            <a:off x="9601200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75" name="Shape 273"/>
          <p:cNvSpPr/>
          <p:nvPr/>
        </p:nvSpPr>
        <p:spPr>
          <a:xfrm>
            <a:off x="9774936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76" name="Shape 274"/>
          <p:cNvSpPr/>
          <p:nvPr/>
        </p:nvSpPr>
        <p:spPr>
          <a:xfrm>
            <a:off x="9948672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77" name="Shape 275"/>
          <p:cNvSpPr/>
          <p:nvPr/>
        </p:nvSpPr>
        <p:spPr>
          <a:xfrm>
            <a:off x="10122408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78" name="Shape 276"/>
          <p:cNvSpPr/>
          <p:nvPr/>
        </p:nvSpPr>
        <p:spPr>
          <a:xfrm>
            <a:off x="10296144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79" name="Shape 277"/>
          <p:cNvSpPr/>
          <p:nvPr/>
        </p:nvSpPr>
        <p:spPr>
          <a:xfrm>
            <a:off x="10469880" y="291693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80" name="Shape 278"/>
          <p:cNvSpPr/>
          <p:nvPr/>
        </p:nvSpPr>
        <p:spPr>
          <a:xfrm>
            <a:off x="6995160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81" name="Shape 279"/>
          <p:cNvSpPr/>
          <p:nvPr/>
        </p:nvSpPr>
        <p:spPr>
          <a:xfrm>
            <a:off x="7168896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82" name="Shape 280"/>
          <p:cNvSpPr/>
          <p:nvPr/>
        </p:nvSpPr>
        <p:spPr>
          <a:xfrm>
            <a:off x="7342632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83" name="Shape 281"/>
          <p:cNvSpPr/>
          <p:nvPr/>
        </p:nvSpPr>
        <p:spPr>
          <a:xfrm>
            <a:off x="7516368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84" name="Shape 282"/>
          <p:cNvSpPr/>
          <p:nvPr/>
        </p:nvSpPr>
        <p:spPr>
          <a:xfrm>
            <a:off x="7690104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85" name="Shape 283"/>
          <p:cNvSpPr/>
          <p:nvPr/>
        </p:nvSpPr>
        <p:spPr>
          <a:xfrm>
            <a:off x="7863840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86" name="Shape 284"/>
          <p:cNvSpPr/>
          <p:nvPr/>
        </p:nvSpPr>
        <p:spPr>
          <a:xfrm>
            <a:off x="8037576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87" name="Shape 285"/>
          <p:cNvSpPr/>
          <p:nvPr/>
        </p:nvSpPr>
        <p:spPr>
          <a:xfrm>
            <a:off x="8211312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88" name="Shape 286"/>
          <p:cNvSpPr/>
          <p:nvPr/>
        </p:nvSpPr>
        <p:spPr>
          <a:xfrm>
            <a:off x="8385048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89" name="Shape 287"/>
          <p:cNvSpPr/>
          <p:nvPr/>
        </p:nvSpPr>
        <p:spPr>
          <a:xfrm>
            <a:off x="8558784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90" name="Shape 288"/>
          <p:cNvSpPr/>
          <p:nvPr/>
        </p:nvSpPr>
        <p:spPr>
          <a:xfrm>
            <a:off x="8732520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91" name="Shape 289"/>
          <p:cNvSpPr/>
          <p:nvPr/>
        </p:nvSpPr>
        <p:spPr>
          <a:xfrm>
            <a:off x="8906256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92" name="Shape 290"/>
          <p:cNvSpPr/>
          <p:nvPr/>
        </p:nvSpPr>
        <p:spPr>
          <a:xfrm>
            <a:off x="9079992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93" name="Shape 291"/>
          <p:cNvSpPr/>
          <p:nvPr/>
        </p:nvSpPr>
        <p:spPr>
          <a:xfrm>
            <a:off x="9253728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94" name="Shape 292"/>
          <p:cNvSpPr/>
          <p:nvPr/>
        </p:nvSpPr>
        <p:spPr>
          <a:xfrm>
            <a:off x="9427464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95" name="Shape 293"/>
          <p:cNvSpPr/>
          <p:nvPr/>
        </p:nvSpPr>
        <p:spPr>
          <a:xfrm>
            <a:off x="9601200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96" name="Shape 294"/>
          <p:cNvSpPr/>
          <p:nvPr/>
        </p:nvSpPr>
        <p:spPr>
          <a:xfrm>
            <a:off x="9774936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97" name="Shape 295"/>
          <p:cNvSpPr/>
          <p:nvPr/>
        </p:nvSpPr>
        <p:spPr>
          <a:xfrm>
            <a:off x="9948672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98" name="Shape 296"/>
          <p:cNvSpPr/>
          <p:nvPr/>
        </p:nvSpPr>
        <p:spPr>
          <a:xfrm>
            <a:off x="10122408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299" name="Shape 297"/>
          <p:cNvSpPr/>
          <p:nvPr/>
        </p:nvSpPr>
        <p:spPr>
          <a:xfrm>
            <a:off x="10296144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00" name="Shape 298"/>
          <p:cNvSpPr/>
          <p:nvPr/>
        </p:nvSpPr>
        <p:spPr>
          <a:xfrm>
            <a:off x="10469880" y="3090672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01" name="Shape 299"/>
          <p:cNvSpPr/>
          <p:nvPr/>
        </p:nvSpPr>
        <p:spPr>
          <a:xfrm>
            <a:off x="6995160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02" name="Shape 300"/>
          <p:cNvSpPr/>
          <p:nvPr/>
        </p:nvSpPr>
        <p:spPr>
          <a:xfrm>
            <a:off x="7168896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03" name="Shape 301"/>
          <p:cNvSpPr/>
          <p:nvPr/>
        </p:nvSpPr>
        <p:spPr>
          <a:xfrm>
            <a:off x="7342632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04" name="Shape 302"/>
          <p:cNvSpPr/>
          <p:nvPr/>
        </p:nvSpPr>
        <p:spPr>
          <a:xfrm>
            <a:off x="7516368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05" name="Shape 303"/>
          <p:cNvSpPr/>
          <p:nvPr/>
        </p:nvSpPr>
        <p:spPr>
          <a:xfrm>
            <a:off x="7690104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06" name="Shape 304"/>
          <p:cNvSpPr/>
          <p:nvPr/>
        </p:nvSpPr>
        <p:spPr>
          <a:xfrm>
            <a:off x="7863840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07" name="Shape 305"/>
          <p:cNvSpPr/>
          <p:nvPr/>
        </p:nvSpPr>
        <p:spPr>
          <a:xfrm>
            <a:off x="8037576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08" name="Shape 306"/>
          <p:cNvSpPr/>
          <p:nvPr/>
        </p:nvSpPr>
        <p:spPr>
          <a:xfrm>
            <a:off x="8211312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09" name="Shape 307"/>
          <p:cNvSpPr/>
          <p:nvPr/>
        </p:nvSpPr>
        <p:spPr>
          <a:xfrm>
            <a:off x="8385048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10" name="Shape 308"/>
          <p:cNvSpPr/>
          <p:nvPr/>
        </p:nvSpPr>
        <p:spPr>
          <a:xfrm>
            <a:off x="8558784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11" name="Shape 309"/>
          <p:cNvSpPr/>
          <p:nvPr/>
        </p:nvSpPr>
        <p:spPr>
          <a:xfrm>
            <a:off x="8732520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12" name="Shape 310"/>
          <p:cNvSpPr/>
          <p:nvPr/>
        </p:nvSpPr>
        <p:spPr>
          <a:xfrm>
            <a:off x="8906256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13" name="Shape 311"/>
          <p:cNvSpPr/>
          <p:nvPr/>
        </p:nvSpPr>
        <p:spPr>
          <a:xfrm>
            <a:off x="9079992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14" name="Shape 312"/>
          <p:cNvSpPr/>
          <p:nvPr/>
        </p:nvSpPr>
        <p:spPr>
          <a:xfrm>
            <a:off x="9253728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15" name="Shape 313"/>
          <p:cNvSpPr/>
          <p:nvPr/>
        </p:nvSpPr>
        <p:spPr>
          <a:xfrm>
            <a:off x="9427464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16" name="Shape 314"/>
          <p:cNvSpPr/>
          <p:nvPr/>
        </p:nvSpPr>
        <p:spPr>
          <a:xfrm>
            <a:off x="9601200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17" name="Shape 315"/>
          <p:cNvSpPr/>
          <p:nvPr/>
        </p:nvSpPr>
        <p:spPr>
          <a:xfrm>
            <a:off x="9774936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18" name="Shape 316"/>
          <p:cNvSpPr/>
          <p:nvPr/>
        </p:nvSpPr>
        <p:spPr>
          <a:xfrm>
            <a:off x="9948672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19" name="Shape 317"/>
          <p:cNvSpPr/>
          <p:nvPr/>
        </p:nvSpPr>
        <p:spPr>
          <a:xfrm>
            <a:off x="10122408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20" name="Shape 318"/>
          <p:cNvSpPr/>
          <p:nvPr/>
        </p:nvSpPr>
        <p:spPr>
          <a:xfrm>
            <a:off x="10296144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21" name="Shape 319"/>
          <p:cNvSpPr/>
          <p:nvPr/>
        </p:nvSpPr>
        <p:spPr>
          <a:xfrm>
            <a:off x="10469880" y="3264408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22" name="Shape 320"/>
          <p:cNvSpPr/>
          <p:nvPr/>
        </p:nvSpPr>
        <p:spPr>
          <a:xfrm>
            <a:off x="6995160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23" name="Shape 321"/>
          <p:cNvSpPr/>
          <p:nvPr/>
        </p:nvSpPr>
        <p:spPr>
          <a:xfrm>
            <a:off x="7168896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24" name="Shape 322"/>
          <p:cNvSpPr/>
          <p:nvPr/>
        </p:nvSpPr>
        <p:spPr>
          <a:xfrm>
            <a:off x="7342632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25" name="Shape 323"/>
          <p:cNvSpPr/>
          <p:nvPr/>
        </p:nvSpPr>
        <p:spPr>
          <a:xfrm>
            <a:off x="7516368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26" name="Shape 324"/>
          <p:cNvSpPr/>
          <p:nvPr/>
        </p:nvSpPr>
        <p:spPr>
          <a:xfrm>
            <a:off x="7690104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27" name="Shape 325"/>
          <p:cNvSpPr/>
          <p:nvPr/>
        </p:nvSpPr>
        <p:spPr>
          <a:xfrm>
            <a:off x="7863840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28" name="Shape 326"/>
          <p:cNvSpPr/>
          <p:nvPr/>
        </p:nvSpPr>
        <p:spPr>
          <a:xfrm>
            <a:off x="8037576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29" name="Shape 327"/>
          <p:cNvSpPr/>
          <p:nvPr/>
        </p:nvSpPr>
        <p:spPr>
          <a:xfrm>
            <a:off x="8211312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30" name="Shape 328"/>
          <p:cNvSpPr/>
          <p:nvPr/>
        </p:nvSpPr>
        <p:spPr>
          <a:xfrm>
            <a:off x="8385048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31" name="Shape 329"/>
          <p:cNvSpPr/>
          <p:nvPr/>
        </p:nvSpPr>
        <p:spPr>
          <a:xfrm>
            <a:off x="8558784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32" name="Shape 330"/>
          <p:cNvSpPr/>
          <p:nvPr/>
        </p:nvSpPr>
        <p:spPr>
          <a:xfrm>
            <a:off x="8732520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33" name="Shape 331"/>
          <p:cNvSpPr/>
          <p:nvPr/>
        </p:nvSpPr>
        <p:spPr>
          <a:xfrm>
            <a:off x="8906256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34" name="Shape 332"/>
          <p:cNvSpPr/>
          <p:nvPr/>
        </p:nvSpPr>
        <p:spPr>
          <a:xfrm>
            <a:off x="9079992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35" name="Shape 333"/>
          <p:cNvSpPr/>
          <p:nvPr/>
        </p:nvSpPr>
        <p:spPr>
          <a:xfrm>
            <a:off x="9253728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36" name="Shape 334"/>
          <p:cNvSpPr/>
          <p:nvPr/>
        </p:nvSpPr>
        <p:spPr>
          <a:xfrm>
            <a:off x="9427464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37" name="Shape 335"/>
          <p:cNvSpPr/>
          <p:nvPr/>
        </p:nvSpPr>
        <p:spPr>
          <a:xfrm>
            <a:off x="9601200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38" name="Shape 336"/>
          <p:cNvSpPr/>
          <p:nvPr/>
        </p:nvSpPr>
        <p:spPr>
          <a:xfrm>
            <a:off x="9774936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39" name="Shape 337"/>
          <p:cNvSpPr/>
          <p:nvPr/>
        </p:nvSpPr>
        <p:spPr>
          <a:xfrm>
            <a:off x="9948672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40" name="Shape 338"/>
          <p:cNvSpPr/>
          <p:nvPr/>
        </p:nvSpPr>
        <p:spPr>
          <a:xfrm>
            <a:off x="10122408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41" name="Shape 339"/>
          <p:cNvSpPr/>
          <p:nvPr/>
        </p:nvSpPr>
        <p:spPr>
          <a:xfrm>
            <a:off x="10296144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42" name="Shape 340"/>
          <p:cNvSpPr/>
          <p:nvPr/>
        </p:nvSpPr>
        <p:spPr>
          <a:xfrm>
            <a:off x="10469880" y="3438144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43" name="Shape 341"/>
          <p:cNvSpPr/>
          <p:nvPr/>
        </p:nvSpPr>
        <p:spPr>
          <a:xfrm>
            <a:off x="6995160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44" name="Shape 342"/>
          <p:cNvSpPr/>
          <p:nvPr/>
        </p:nvSpPr>
        <p:spPr>
          <a:xfrm>
            <a:off x="7168896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45" name="Shape 343"/>
          <p:cNvSpPr/>
          <p:nvPr/>
        </p:nvSpPr>
        <p:spPr>
          <a:xfrm>
            <a:off x="7342632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46" name="Shape 344"/>
          <p:cNvSpPr/>
          <p:nvPr/>
        </p:nvSpPr>
        <p:spPr>
          <a:xfrm>
            <a:off x="7516368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47" name="Shape 345"/>
          <p:cNvSpPr/>
          <p:nvPr/>
        </p:nvSpPr>
        <p:spPr>
          <a:xfrm>
            <a:off x="7690104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48" name="Shape 346"/>
          <p:cNvSpPr/>
          <p:nvPr/>
        </p:nvSpPr>
        <p:spPr>
          <a:xfrm>
            <a:off x="7863840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49" name="Shape 347"/>
          <p:cNvSpPr/>
          <p:nvPr/>
        </p:nvSpPr>
        <p:spPr>
          <a:xfrm>
            <a:off x="8037576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50" name="Shape 348"/>
          <p:cNvSpPr/>
          <p:nvPr/>
        </p:nvSpPr>
        <p:spPr>
          <a:xfrm>
            <a:off x="8211312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51" name="Shape 349"/>
          <p:cNvSpPr/>
          <p:nvPr/>
        </p:nvSpPr>
        <p:spPr>
          <a:xfrm>
            <a:off x="8385048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52" name="Shape 350"/>
          <p:cNvSpPr/>
          <p:nvPr/>
        </p:nvSpPr>
        <p:spPr>
          <a:xfrm>
            <a:off x="8558784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53" name="Shape 351"/>
          <p:cNvSpPr/>
          <p:nvPr/>
        </p:nvSpPr>
        <p:spPr>
          <a:xfrm>
            <a:off x="8732520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54" name="Shape 352"/>
          <p:cNvSpPr/>
          <p:nvPr/>
        </p:nvSpPr>
        <p:spPr>
          <a:xfrm>
            <a:off x="8906256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55" name="Shape 353"/>
          <p:cNvSpPr/>
          <p:nvPr/>
        </p:nvSpPr>
        <p:spPr>
          <a:xfrm>
            <a:off x="9079992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56" name="Shape 354"/>
          <p:cNvSpPr/>
          <p:nvPr/>
        </p:nvSpPr>
        <p:spPr>
          <a:xfrm>
            <a:off x="9253728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57" name="Shape 355"/>
          <p:cNvSpPr/>
          <p:nvPr/>
        </p:nvSpPr>
        <p:spPr>
          <a:xfrm>
            <a:off x="9427464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58" name="Shape 356"/>
          <p:cNvSpPr/>
          <p:nvPr/>
        </p:nvSpPr>
        <p:spPr>
          <a:xfrm>
            <a:off x="9601200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59" name="Shape 357"/>
          <p:cNvSpPr/>
          <p:nvPr/>
        </p:nvSpPr>
        <p:spPr>
          <a:xfrm>
            <a:off x="9774936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60" name="Shape 358"/>
          <p:cNvSpPr/>
          <p:nvPr/>
        </p:nvSpPr>
        <p:spPr>
          <a:xfrm>
            <a:off x="9948672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61" name="Shape 359"/>
          <p:cNvSpPr/>
          <p:nvPr/>
        </p:nvSpPr>
        <p:spPr>
          <a:xfrm>
            <a:off x="10122408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62" name="Shape 360"/>
          <p:cNvSpPr/>
          <p:nvPr/>
        </p:nvSpPr>
        <p:spPr>
          <a:xfrm>
            <a:off x="10296144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63" name="Shape 361"/>
          <p:cNvSpPr/>
          <p:nvPr/>
        </p:nvSpPr>
        <p:spPr>
          <a:xfrm>
            <a:off x="10469880" y="3611880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64" name="Shape 362"/>
          <p:cNvSpPr/>
          <p:nvPr/>
        </p:nvSpPr>
        <p:spPr>
          <a:xfrm>
            <a:off x="6995160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65" name="Shape 363"/>
          <p:cNvSpPr/>
          <p:nvPr/>
        </p:nvSpPr>
        <p:spPr>
          <a:xfrm>
            <a:off x="7168896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66" name="Shape 364"/>
          <p:cNvSpPr/>
          <p:nvPr/>
        </p:nvSpPr>
        <p:spPr>
          <a:xfrm>
            <a:off x="7342632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67" name="Shape 365"/>
          <p:cNvSpPr/>
          <p:nvPr/>
        </p:nvSpPr>
        <p:spPr>
          <a:xfrm>
            <a:off x="7516368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68" name="Shape 366"/>
          <p:cNvSpPr/>
          <p:nvPr/>
        </p:nvSpPr>
        <p:spPr>
          <a:xfrm>
            <a:off x="7690104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69" name="Shape 367"/>
          <p:cNvSpPr/>
          <p:nvPr/>
        </p:nvSpPr>
        <p:spPr>
          <a:xfrm>
            <a:off x="7863840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70" name="Shape 368"/>
          <p:cNvSpPr/>
          <p:nvPr/>
        </p:nvSpPr>
        <p:spPr>
          <a:xfrm>
            <a:off x="8037576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71" name="Shape 369"/>
          <p:cNvSpPr/>
          <p:nvPr/>
        </p:nvSpPr>
        <p:spPr>
          <a:xfrm>
            <a:off x="8211312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72" name="Shape 370"/>
          <p:cNvSpPr/>
          <p:nvPr/>
        </p:nvSpPr>
        <p:spPr>
          <a:xfrm>
            <a:off x="8385048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73" name="Shape 371"/>
          <p:cNvSpPr/>
          <p:nvPr/>
        </p:nvSpPr>
        <p:spPr>
          <a:xfrm>
            <a:off x="8558784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74" name="Shape 372"/>
          <p:cNvSpPr/>
          <p:nvPr/>
        </p:nvSpPr>
        <p:spPr>
          <a:xfrm>
            <a:off x="8732520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75" name="Shape 373"/>
          <p:cNvSpPr/>
          <p:nvPr/>
        </p:nvSpPr>
        <p:spPr>
          <a:xfrm>
            <a:off x="8906256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76" name="Shape 374"/>
          <p:cNvSpPr/>
          <p:nvPr/>
        </p:nvSpPr>
        <p:spPr>
          <a:xfrm>
            <a:off x="9079992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77" name="Shape 375"/>
          <p:cNvSpPr/>
          <p:nvPr/>
        </p:nvSpPr>
        <p:spPr>
          <a:xfrm>
            <a:off x="9253728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78" name="Shape 376"/>
          <p:cNvSpPr/>
          <p:nvPr/>
        </p:nvSpPr>
        <p:spPr>
          <a:xfrm>
            <a:off x="9427464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79" name="Shape 377"/>
          <p:cNvSpPr/>
          <p:nvPr/>
        </p:nvSpPr>
        <p:spPr>
          <a:xfrm>
            <a:off x="9601200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80" name="Shape 378"/>
          <p:cNvSpPr/>
          <p:nvPr/>
        </p:nvSpPr>
        <p:spPr>
          <a:xfrm>
            <a:off x="9774936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81" name="Shape 379"/>
          <p:cNvSpPr/>
          <p:nvPr/>
        </p:nvSpPr>
        <p:spPr>
          <a:xfrm>
            <a:off x="9948672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82" name="Shape 380"/>
          <p:cNvSpPr/>
          <p:nvPr/>
        </p:nvSpPr>
        <p:spPr>
          <a:xfrm>
            <a:off x="10122408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83" name="Shape 381"/>
          <p:cNvSpPr/>
          <p:nvPr/>
        </p:nvSpPr>
        <p:spPr>
          <a:xfrm>
            <a:off x="10296144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84" name="Shape 382"/>
          <p:cNvSpPr/>
          <p:nvPr/>
        </p:nvSpPr>
        <p:spPr>
          <a:xfrm>
            <a:off x="10469880" y="3785616"/>
            <a:ext cx="91440" cy="91440"/>
          </a:xfrm>
          <a:prstGeom prst="ellipse">
            <a:avLst/>
          </a:prstGeom>
          <a:solidFill>
            <a:srgbClr val="C7D0DE"/>
          </a:solidFill>
          <a:ln/>
        </p:spPr>
      </p:sp>
      <p:sp>
        <p:nvSpPr>
          <p:cNvPr id="385" name="Text 383"/>
          <p:cNvSpPr/>
          <p:nvPr/>
        </p:nvSpPr>
        <p:spPr>
          <a:xfrm>
            <a:off x="6995160" y="40690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189校が、同じ重さで並んだまま。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C6B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どこから絞るかを、自分で決める。</a:t>
            </a:r>
            <a:endParaRPr lang="en-US" sz="1350" dirty="0"/>
          </a:p>
        </p:txBody>
      </p:sp>
      <p:sp>
        <p:nvSpPr>
          <p:cNvPr id="386" name="Text 384"/>
          <p:cNvSpPr/>
          <p:nvPr/>
        </p:nvSpPr>
        <p:spPr>
          <a:xfrm>
            <a:off x="640080" y="4937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「うちの子は、どこから見ればいいのか」</a:t>
            </a:r>
            <a:endParaRPr lang="en-US" sz="3200" dirty="0"/>
          </a:p>
        </p:txBody>
      </p:sp>
      <p:sp>
        <p:nvSpPr>
          <p:cNvPr id="387" name="Text 385"/>
          <p:cNvSpPr/>
          <p:nvPr/>
        </p:nvSpPr>
        <p:spPr>
          <a:xfrm>
            <a:off x="640080" y="58064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7F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進路コンパスは、その一歩目をつくります。答えを出す道具ではなく、考え始めるための出発点です。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3つの質問に答えるだけで、はじめの数校が出る</a:t>
            </a:r>
            <a:endParaRPr lang="en-US" sz="3200" dirty="0"/>
          </a:p>
        </p:txBody>
      </p:sp>
      <p:pic>
        <p:nvPicPr>
          <p:cNvPr id="3" name="Image 0" descr="/tmp/claude-0/-home-user-knowledge-base/ce7faca9-342a-5cd4-886e-c73f2ae459cd/scratchpad/deck/n_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2457450" cy="50292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1A2333">
                <a:alpha val="3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4297680" y="1600200"/>
            <a:ext cx="566928" cy="566928"/>
          </a:xfrm>
          <a:prstGeom prst="ellipse">
            <a:avLst/>
          </a:prstGeom>
          <a:solidFill>
            <a:srgbClr val="33527E"/>
          </a:solidFill>
          <a:ln/>
        </p:spPr>
      </p:sp>
      <p:sp>
        <p:nvSpPr>
          <p:cNvPr id="5" name="Text 2"/>
          <p:cNvSpPr/>
          <p:nvPr/>
        </p:nvSpPr>
        <p:spPr>
          <a:xfrm>
            <a:off x="429768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74920" y="1563624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最寄り駅と、通えそうな時間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074920" y="2020824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住所は聞きません。「練馬駅から45分以内」だけで始められます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297680" y="3017520"/>
            <a:ext cx="566928" cy="566928"/>
          </a:xfrm>
          <a:prstGeom prst="ellipse">
            <a:avLst/>
          </a:prstGeom>
          <a:solidFill>
            <a:srgbClr val="33527E"/>
          </a:solidFill>
          <a:ln/>
        </p:spPr>
      </p:sp>
      <p:sp>
        <p:nvSpPr>
          <p:cNvPr id="9" name="Text 6"/>
          <p:cNvSpPr/>
          <p:nvPr/>
        </p:nvSpPr>
        <p:spPr>
          <a:xfrm>
            <a:off x="429768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074920" y="2980944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成績の目安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5074920" y="3438144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内申は5教科と実技を分けて聞き、1020点満点の見込みを一緒に計算。「まだ分からない」でも先へ進めます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297680" y="4434840"/>
            <a:ext cx="566928" cy="566928"/>
          </a:xfrm>
          <a:prstGeom prst="ellipse">
            <a:avLst/>
          </a:prstGeom>
          <a:solidFill>
            <a:srgbClr val="33527E"/>
          </a:solidFill>
          <a:ln/>
        </p:spPr>
      </p:sp>
      <p:sp>
        <p:nvSpPr>
          <p:cNvPr id="13" name="Text 10"/>
          <p:cNvSpPr/>
          <p:nvPr/>
        </p:nvSpPr>
        <p:spPr>
          <a:xfrm>
            <a:off x="4297680" y="4434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074920" y="4398264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希望と、いちばん大事にしたいこと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5074920" y="4855464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「吹奏楽をやりたい」「制服がない学校がいい」を自由な言葉で。最後に並べ方の軸を1つ選びます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074920" y="59436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87F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分からない項目は飛ばせます。入り口で立ち止まらせないための設計です。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ぴったりの1校ではなく、選べる数校を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9844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合格しそうな学校だけを並べません。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B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余裕・ちょうど・あと一歩を、混ぜて返します。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487168"/>
            <a:ext cx="1536192" cy="47548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87168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余裕をもって臨める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176272" y="2487168"/>
            <a:ext cx="2048256" cy="475488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7" name="Text 5"/>
          <p:cNvSpPr/>
          <p:nvPr/>
        </p:nvSpPr>
        <p:spPr>
          <a:xfrm>
            <a:off x="2176272" y="2487168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いまの見込みで届く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24528" y="2487168"/>
            <a:ext cx="1536192" cy="475488"/>
          </a:xfrm>
          <a:prstGeom prst="rect">
            <a:avLst/>
          </a:prstGeom>
          <a:solidFill>
            <a:srgbClr val="C45000"/>
          </a:solidFill>
          <a:ln/>
        </p:spPr>
      </p:sp>
      <p:sp>
        <p:nvSpPr>
          <p:cNvPr id="9" name="Text 7"/>
          <p:cNvSpPr/>
          <p:nvPr/>
        </p:nvSpPr>
        <p:spPr>
          <a:xfrm>
            <a:off x="4224528" y="2487168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あと一歩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181051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7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実際に提案された4校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30706" y="2231136"/>
            <a:ext cx="164592" cy="164592"/>
          </a:xfrm>
          <a:prstGeom prst="ellipse">
            <a:avLst/>
          </a:prstGeom>
          <a:solidFill>
            <a:srgbClr val="2E7D3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4362" y="19751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練馬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22930" y="2231136"/>
            <a:ext cx="164592" cy="164592"/>
          </a:xfrm>
          <a:prstGeom prst="ellipse">
            <a:avLst/>
          </a:prstGeom>
          <a:solidFill>
            <a:srgbClr val="0D47A1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72538" y="19751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北園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42411" y="2231136"/>
            <a:ext cx="164592" cy="164592"/>
          </a:xfrm>
          <a:prstGeom prst="ellipse">
            <a:avLst/>
          </a:prstGeom>
          <a:solidFill>
            <a:srgbClr val="0D47A1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0115" y="19751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竹早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285842" y="2231136"/>
            <a:ext cx="164592" cy="164592"/>
          </a:xfrm>
          <a:prstGeom prst="ellipse">
            <a:avLst/>
          </a:prstGeom>
          <a:solidFill>
            <a:srgbClr val="C4500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9498" y="19751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西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0" y="2176272"/>
            <a:ext cx="0" cy="914400"/>
          </a:xfrm>
          <a:prstGeom prst="line">
            <a:avLst/>
          </a:prstGeom>
          <a:noFill/>
          <a:ln w="25400">
            <a:solidFill>
              <a:srgbClr val="A87F2F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1828800" y="3127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87F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お子さんの見込み 793点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341985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7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← 合格の目安が低い　　　　　　　　　　　高い →</a:t>
            </a:r>
            <a:endParaRPr lang="en-US" sz="1050" dirty="0"/>
          </a:p>
        </p:txBody>
      </p:sp>
      <p:pic>
        <p:nvPicPr>
          <p:cNvPr id="22" name="Image 0" descr="/tmp/claude-0/-home-user-knowledge-base/ce7faca9-342a-5cd4-886e-c73f2ae459cd/scratchpad/deck/d_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417320"/>
            <a:ext cx="5618480" cy="361188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1A2333">
                <a:alpha val="35000"/>
              </a:srgbClr>
            </a:outerShdw>
          </a:effectLst>
        </p:spPr>
      </p:pic>
      <p:pic>
        <p:nvPicPr>
          <p:cNvPr id="23" name="Image 1" descr="/tmp/claude-0/-home-user-knowledge-base/ce7faca9-342a-5cd4-886e-c73f2ae459cd/scratchpad/deck/n_car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2788920"/>
            <a:ext cx="1139363" cy="233172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1A2333">
                <a:alpha val="35000"/>
              </a:srgbClr>
            </a:outerShdw>
          </a:effectLst>
        </p:spPr>
      </p:pic>
      <p:sp>
        <p:nvSpPr>
          <p:cNvPr id="24" name="Text 20"/>
          <p:cNvSpPr/>
          <p:nvPr/>
        </p:nvSpPr>
        <p:spPr>
          <a:xfrm>
            <a:off x="640080" y="388620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決めるのは家庭。だから幅をもたせます
</a:t>
            </a:r>
            <a:pPr indent="0" marL="0">
              <a:buNone/>
            </a:pPr>
            <a:r>
              <a:rPr lang="en-US" sz="1400" dirty="0">
                <a:solidFill>
                  <a:srgbClr val="5C6B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1位から4位ではありません。どれを選ぶかは、家庭が決めることだからです。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640080" y="484632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点数で測れない学校も、落とさない
</a:t>
            </a:r>
            <a:pPr indent="0" marL="0">
              <a:buNone/>
            </a:pPr>
            <a:r>
              <a:rPr lang="en-US" sz="1400" dirty="0">
                <a:solidFill>
                  <a:srgbClr val="5C6B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高専・定時制は「測り方が違う」と書いて候補に残します。</a:t>
            </a:r>
            <a:endParaRPr lang="en-US" sz="1700" dirty="0"/>
          </a:p>
        </p:txBody>
      </p:sp>
      <p:sp>
        <p:nvSpPr>
          <p:cNvPr id="26" name="Text 22"/>
          <p:cNvSpPr/>
          <p:nvPr/>
        </p:nvSpPr>
        <p:spPr>
          <a:xfrm>
            <a:off x="640080" y="58521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7F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ここは入り口です。答えではなく、選べる材料を渡します。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気になった数校を、持ち出せる1枚に</a:t>
            </a:r>
            <a:endParaRPr lang="en-US" sz="3200" dirty="0"/>
          </a:p>
        </p:txBody>
      </p:sp>
      <p:pic>
        <p:nvPicPr>
          <p:cNvPr id="3" name="Image 0" descr="/tmp/claude-0/-home-user-knowledge-base/ce7faca9-342a-5cd4-886e-c73f2ae459cd/scratchpad/deck/d_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5049520" cy="324612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1A2333">
                <a:alpha val="35000"/>
              </a:srgbClr>
            </a:outerShdw>
          </a:effectLst>
        </p:spPr>
      </p:pic>
      <p:pic>
        <p:nvPicPr>
          <p:cNvPr id="4" name="Image 1" descr="/tmp/claude-0/-home-user-knowledge-base/ce7faca9-342a-5cd4-886e-c73f2ae459cd/scratchpad/deck/n_shee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892040"/>
            <a:ext cx="1661976" cy="141732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1A2333">
                <a:alpha val="35000"/>
              </a:srgbClr>
            </a:outerShdw>
          </a:effectLst>
        </p:spPr>
      </p:pic>
      <p:sp>
        <p:nvSpPr>
          <p:cNvPr id="5" name="Shape 1"/>
          <p:cNvSpPr/>
          <p:nvPr/>
        </p:nvSpPr>
        <p:spPr>
          <a:xfrm>
            <a:off x="5532120" y="1755648"/>
            <a:ext cx="146304" cy="146304"/>
          </a:xfrm>
          <a:prstGeom prst="ellipse">
            <a:avLst/>
          </a:prstGeom>
          <a:solidFill>
            <a:srgbClr val="A87F2F"/>
          </a:solidFill>
          <a:ln/>
        </p:spPr>
      </p:sp>
      <p:sp>
        <p:nvSpPr>
          <p:cNvPr id="6" name="Text 2"/>
          <p:cNvSpPr/>
          <p:nvPr/>
        </p:nvSpPr>
        <p:spPr>
          <a:xfrm>
            <a:off x="5852160" y="160934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自宅の最寄駅を起点にした地図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5852160" y="2048256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気になる学校を同じ縮尺の1枚に。家からどの方角に、どれだけ離れているかが分かります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5532120" y="3127248"/>
            <a:ext cx="146304" cy="146304"/>
          </a:xfrm>
          <a:prstGeom prst="ellipse">
            <a:avLst/>
          </a:prstGeom>
          <a:solidFill>
            <a:srgbClr val="A87F2F"/>
          </a:solidFill>
          <a:ln/>
        </p:spPr>
      </p:sp>
      <p:sp>
        <p:nvSpPr>
          <p:cNvPr id="9" name="Text 5"/>
          <p:cNvSpPr/>
          <p:nvPr/>
        </p:nvSpPr>
        <p:spPr>
          <a:xfrm>
            <a:off x="5852160" y="298094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部の実績・制服・倍率5年推移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5852160" y="3419856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公式記録から集めた部の実績や、本人が気にする制服も同じ紙の上に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532120" y="4498848"/>
            <a:ext cx="146304" cy="146304"/>
          </a:xfrm>
          <a:prstGeom prst="ellipse">
            <a:avLst/>
          </a:prstGeom>
          <a:solidFill>
            <a:srgbClr val="A87F2F"/>
          </a:solidFill>
          <a:ln/>
        </p:spPr>
      </p:sp>
      <p:sp>
        <p:nvSpPr>
          <p:cNvPr id="12" name="Text 8"/>
          <p:cNvSpPr/>
          <p:nvPr/>
        </p:nvSpPr>
        <p:spPr>
          <a:xfrm>
            <a:off x="5852160" y="435254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A4で印刷できる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852160" y="4791456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学校説明会や見学に持っていき、家族で話すための紙になります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852160" y="59436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7F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画面の中で完結させません。入り口の次は、実際に学校を見に行く番です。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9つの公開データを、ひとつの判断に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1490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学校一覧・学科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41248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東京都教育委員会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389120" y="141732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0288" y="1490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応募倍率 R4〜R8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90288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東京都教育委員会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138160" y="141732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39328" y="1490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中学校卒業者の進路状況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39328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東京都教育委員会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37744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4505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進学指導重点校等の指定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41248" y="2788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東京都教育委員会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0" y="237744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24505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部活 約5,000件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90288" y="2788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各校公式サイト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38160" y="237744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9328" y="24505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制服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39328" y="2788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各校公式サイト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33756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4107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運動部の実績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41248" y="3749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東京都高体連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0" y="333756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34107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硬式野球・吹奏楽・美術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90288" y="3749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都高野連・都吹連・国際美術展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38160" y="333756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39328" y="34107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通学時間 10.5万通り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339328" y="3749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station_database（CC BY-SA 4.0）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" y="4434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PDF・HTML・表形式でバラバラだったものを、ひとつの画面に集めました。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4937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すべての表示に出典を付けています。</a:t>
            </a:r>
            <a:pPr indent="0" marL="0">
              <a:buNone/>
            </a:pPr>
            <a:r>
              <a:rPr lang="en-US" sz="1400" dirty="0">
                <a:solidFill>
                  <a:srgbClr val="5C6B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気になった学校は、次に一次情報へ進めます。ここは入り口なので、行き止まりにしません。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5440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個人情報は集めません。</a:t>
            </a:r>
            <a:pPr indent="0" marL="0">
              <a:buNone/>
            </a:pPr>
            <a:r>
              <a:rPr lang="en-US" sz="1400" dirty="0">
                <a:solidFill>
                  <a:srgbClr val="5C6B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大会実績は部の実績として扱い、生徒の氏名・学年・記録は収集の時点で読み取りません。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7F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出典を出せないデータは載せない ——  開発中ずっと守ったルールです。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4846320"/>
            <a:ext cx="3657600" cy="3657600"/>
          </a:xfrm>
          <a:prstGeom prst="ellipse">
            <a:avLst/>
          </a:prstGeom>
          <a:solidFill>
            <a:srgbClr val="0B101C">
              <a:alpha val="0"/>
            </a:srgbClr>
          </a:solidFill>
          <a:ln w="12700">
            <a:solidFill>
              <a:srgbClr val="C9A85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5358384"/>
            <a:ext cx="2633472" cy="2633472"/>
          </a:xfrm>
          <a:prstGeom prst="ellipse">
            <a:avLst/>
          </a:prstGeom>
          <a:solidFill>
            <a:srgbClr val="0B101C">
              <a:alpha val="0"/>
            </a:srgbClr>
          </a:solidFill>
          <a:ln w="12700">
            <a:solidFill>
              <a:srgbClr val="C9A85C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4240" y="5760720"/>
            <a:ext cx="1828800" cy="1828800"/>
          </a:xfrm>
          <a:prstGeom prst="ellipse">
            <a:avLst/>
          </a:prstGeom>
          <a:solidFill>
            <a:srgbClr val="0B101C">
              <a:alpha val="0"/>
            </a:srgbClr>
          </a:solidFill>
          <a:ln w="12700">
            <a:solidFill>
              <a:srgbClr val="C9A85C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チームと、これから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141B2A"/>
          </a:solidFill>
          <a:ln w="12700">
            <a:solidFill>
              <a:srgbClr val="2B36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600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西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96112" y="20299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A8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企画・データ整備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96112" y="2423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1B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塾で保護者と面談している立場から、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3A1B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必要な情報と伝え方を決めています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141B2A"/>
          </a:solidFill>
          <a:ln w="12700">
            <a:solidFill>
              <a:srgbClr val="2B36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600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寒河江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45152" y="20299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A8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推薦ロジック・API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45152" y="2423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1B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圏の判定と重視軸、Cloudflare上の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3A1B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検索APIを担当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41732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141B2A"/>
          </a:solidFill>
          <a:ln w="12700">
            <a:solidFill>
              <a:srgbClr val="2B36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4192" y="1600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安田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94192" y="20299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A8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UI・画面設計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94192" y="2423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1B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保護者が迷わない画面と、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3A1B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持ち出せるシートの設計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36118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つくり方　</a:t>
            </a:r>
            <a:pPr indent="0" marL="0">
              <a:buNone/>
            </a:pPr>
            <a:r>
              <a:rPr lang="en-US" sz="1300" dirty="0">
                <a:solidFill>
                  <a:srgbClr val="93A1B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デモは依存のない単一HTML（どの端末でも確実に開く）。検索APIは Cloudflare Workers + D1。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A1B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通学時間は駅間グラフから10.5万通りを事前計算し、急行運転で補正。回帰テスト29項目で品質を保っています。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続け方　</a:t>
            </a:r>
            <a:pPr indent="0" marL="0">
              <a:buNone/>
            </a:pPr>
            <a:r>
              <a:rPr lang="en-US" sz="1300" dirty="0">
                <a:solidFill>
                  <a:srgbClr val="93A1B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データ更新はスクリプトとGitHub Actionsで自動化済み。年1回の入試制度の改定に少人数で追随できます。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A1B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サーバーレス構成のため運用費は月数百円規模。次は私立高校への対応、口コミ・校風、やさしい日本語と多言語へ。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A8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迷子にならない進路選びを、東京のすべての家庭に。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進路コンパス</dc:title>
  <dc:subject>PptxGenJS Presentation</dc:subject>
  <dc:creator>Team WINS</dc:creator>
  <cp:lastModifiedBy>Team WINS</cp:lastModifiedBy>
  <cp:revision>1</cp:revision>
  <dcterms:created xsi:type="dcterms:W3CDTF">2026-08-23T04:46:15Z</dcterms:created>
  <dcterms:modified xsi:type="dcterms:W3CDTF">2026-08-23T04:46:15Z</dcterms:modified>
</cp:coreProperties>
</file>